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League Spartan" charset="1" panose="00000800000000000000"/>
      <p:regular r:id="rId29"/>
    </p:embeddedFont>
    <p:embeddedFont>
      <p:font typeface="Open Sans" charset="1" panose="020B0606030504020204"/>
      <p:regular r:id="rId30"/>
    </p:embeddedFont>
    <p:embeddedFont>
      <p:font typeface="Open Sans Ultra-Bold" charset="1" panose="00000000000000000000"/>
      <p:regular r:id="rId31"/>
    </p:embeddedFont>
    <p:embeddedFont>
      <p:font typeface="Canva Sans" charset="1" panose="020B0503030501040103"/>
      <p:regular r:id="rId32"/>
    </p:embeddedFont>
    <p:embeddedFont>
      <p:font typeface="Poppins" charset="1" panose="00000500000000000000"/>
      <p:regular r:id="rId33"/>
    </p:embeddedFont>
    <p:embeddedFont>
      <p:font typeface="Poppins Bold" charset="1" panose="00000800000000000000"/>
      <p:regular r:id="rId34"/>
    </p:embeddedFont>
    <p:embeddedFont>
      <p:font typeface="Arimo" charset="1" panose="020B0604020202020204"/>
      <p:regular r:id="rId35"/>
    </p:embeddedFont>
    <p:embeddedFont>
      <p:font typeface="Roboto Bold" charset="1" panose="020000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2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55.png" Type="http://schemas.openxmlformats.org/officeDocument/2006/relationships/image"/><Relationship Id="rId15" Target="../media/image56.svg" Type="http://schemas.openxmlformats.org/officeDocument/2006/relationships/image"/><Relationship Id="rId2" Target="../media/image38.jpe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1.png" Type="http://schemas.openxmlformats.org/officeDocument/2006/relationships/image"/><Relationship Id="rId6" Target="../media/image14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60.jpeg" Type="http://schemas.openxmlformats.org/officeDocument/2006/relationships/image"/><Relationship Id="rId5" Target="../media/image61.jpeg" Type="http://schemas.openxmlformats.org/officeDocument/2006/relationships/image"/><Relationship Id="rId6" Target="../media/image62.jpe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svg" Type="http://schemas.openxmlformats.org/officeDocument/2006/relationships/image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55474" cy="10431961"/>
            <a:chOff x="0" y="0"/>
            <a:chExt cx="24607298" cy="1390928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737118" cy="13909282"/>
              <a:chOff x="0" y="0"/>
              <a:chExt cx="4790002" cy="280680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90003" cy="2806806"/>
              </a:xfrm>
              <a:custGeom>
                <a:avLst/>
                <a:gdLst/>
                <a:ahLst/>
                <a:cxnLst/>
                <a:rect r="r" b="b" t="t" l="l"/>
                <a:pathLst>
                  <a:path h="2806806" w="4790003">
                    <a:moveTo>
                      <a:pt x="0" y="0"/>
                    </a:moveTo>
                    <a:lnTo>
                      <a:pt x="4790003" y="0"/>
                    </a:lnTo>
                    <a:lnTo>
                      <a:pt x="4790003" y="2806806"/>
                    </a:lnTo>
                    <a:lnTo>
                      <a:pt x="0" y="2806806"/>
                    </a:ln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90002" cy="2844906"/>
              </a:xfrm>
              <a:prstGeom prst="rect">
                <a:avLst/>
              </a:prstGeom>
            </p:spPr>
            <p:txBody>
              <a:bodyPr anchor="ctr" rtlCol="false" tIns="49727" lIns="49727" bIns="49727" rIns="49727"/>
              <a:lstStyle/>
              <a:p>
                <a:pPr algn="ctr">
                  <a:lnSpc>
                    <a:spcPts val="235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607298" cy="13909282"/>
            </a:xfrm>
            <a:custGeom>
              <a:avLst/>
              <a:gdLst/>
              <a:ahLst/>
              <a:cxnLst/>
              <a:rect r="r" b="b" t="t" l="l"/>
              <a:pathLst>
                <a:path h="13909282" w="24607298">
                  <a:moveTo>
                    <a:pt x="0" y="0"/>
                  </a:moveTo>
                  <a:lnTo>
                    <a:pt x="24607298" y="0"/>
                  </a:lnTo>
                  <a:lnTo>
                    <a:pt x="24607298" y="13909282"/>
                  </a:lnTo>
                  <a:lnTo>
                    <a:pt x="0" y="13909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8000"/>
              </a:blip>
              <a:stretch>
                <a:fillRect l="-45286" t="-190225" r="0" b="-16727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35621" y="253475"/>
            <a:ext cx="17616759" cy="9814430"/>
            <a:chOff x="0" y="0"/>
            <a:chExt cx="23489012" cy="130859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489012" cy="13040066"/>
            </a:xfrm>
            <a:custGeom>
              <a:avLst/>
              <a:gdLst/>
              <a:ahLst/>
              <a:cxnLst/>
              <a:rect r="r" b="b" t="t" l="l"/>
              <a:pathLst>
                <a:path h="13040066" w="23489012">
                  <a:moveTo>
                    <a:pt x="0" y="0"/>
                  </a:moveTo>
                  <a:lnTo>
                    <a:pt x="23489012" y="0"/>
                  </a:lnTo>
                  <a:lnTo>
                    <a:pt x="23489012" y="13040066"/>
                  </a:lnTo>
                  <a:lnTo>
                    <a:pt x="0" y="13040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5000"/>
              </a:blip>
              <a:stretch>
                <a:fillRect l="0" t="-9465" r="0" b="-1062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0"/>
              <a:ext cx="23489012" cy="13040066"/>
              <a:chOff x="0" y="0"/>
              <a:chExt cx="4639805" cy="25758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A83">
                      <a:alpha val="24000"/>
                    </a:srgbClr>
                  </a:gs>
                  <a:gs pos="33333">
                    <a:srgbClr val="2F0250">
                      <a:alpha val="24000"/>
                    </a:srgbClr>
                  </a:gs>
                  <a:gs pos="66667">
                    <a:srgbClr val="820443">
                      <a:alpha val="24000"/>
                    </a:srgbClr>
                  </a:gs>
                  <a:gs pos="100000">
                    <a:srgbClr val="800001">
                      <a:alpha val="24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23489012" cy="13040066"/>
              <a:chOff x="0" y="0"/>
              <a:chExt cx="4639805" cy="25758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solidFill>
                <a:srgbClr val="000000">
                  <a:alpha val="6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  <a:p>
                <a:pPr algn="ctr">
                  <a:lnSpc>
                    <a:spcPts val="299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45841"/>
              <a:ext cx="23489012" cy="13040066"/>
              <a:chOff x="0" y="0"/>
              <a:chExt cx="4639805" cy="25758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A83">
                      <a:alpha val="24000"/>
                    </a:srgbClr>
                  </a:gs>
                  <a:gs pos="33333">
                    <a:srgbClr val="2F0250">
                      <a:alpha val="24000"/>
                    </a:srgbClr>
                  </a:gs>
                  <a:gs pos="66667">
                    <a:srgbClr val="820443">
                      <a:alpha val="24000"/>
                    </a:srgbClr>
                  </a:gs>
                  <a:gs pos="100000">
                    <a:srgbClr val="800001">
                      <a:alpha val="24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</p:txBody>
          </p:sp>
        </p:grpSp>
      </p:grpSp>
      <p:sp>
        <p:nvSpPr>
          <p:cNvPr name="AutoShape 18" id="18"/>
          <p:cNvSpPr/>
          <p:nvPr/>
        </p:nvSpPr>
        <p:spPr>
          <a:xfrm flipH="true">
            <a:off x="1634059" y="4912334"/>
            <a:ext cx="15019882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7806627" y="253475"/>
            <a:ext cx="2674746" cy="1693949"/>
            <a:chOff x="0" y="0"/>
            <a:chExt cx="2994179" cy="18962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94124" cy="1896253"/>
            </a:xfrm>
            <a:custGeom>
              <a:avLst/>
              <a:gdLst/>
              <a:ahLst/>
              <a:cxnLst/>
              <a:rect r="r" b="b" t="t" l="l"/>
              <a:pathLst>
                <a:path h="1896253" w="2994124">
                  <a:moveTo>
                    <a:pt x="0" y="0"/>
                  </a:moveTo>
                  <a:lnTo>
                    <a:pt x="2994124" y="0"/>
                  </a:lnTo>
                  <a:lnTo>
                    <a:pt x="2994124" y="1896253"/>
                  </a:lnTo>
                  <a:lnTo>
                    <a:pt x="0" y="1896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8949" r="-1" b="-28949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370845" y="309528"/>
            <a:ext cx="2283694" cy="1637896"/>
          </a:xfrm>
          <a:custGeom>
            <a:avLst/>
            <a:gdLst/>
            <a:ahLst/>
            <a:cxnLst/>
            <a:rect r="r" b="b" t="t" l="l"/>
            <a:pathLst>
              <a:path h="1637896" w="2283694">
                <a:moveTo>
                  <a:pt x="0" y="0"/>
                </a:moveTo>
                <a:lnTo>
                  <a:pt x="2283694" y="0"/>
                </a:lnTo>
                <a:lnTo>
                  <a:pt x="2283694" y="1637896"/>
                </a:lnTo>
                <a:lnTo>
                  <a:pt x="0" y="1637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995352" y="499580"/>
            <a:ext cx="3728071" cy="1253564"/>
          </a:xfrm>
          <a:custGeom>
            <a:avLst/>
            <a:gdLst/>
            <a:ahLst/>
            <a:cxnLst/>
            <a:rect r="r" b="b" t="t" l="l"/>
            <a:pathLst>
              <a:path h="1253564" w="3728071">
                <a:moveTo>
                  <a:pt x="0" y="0"/>
                </a:moveTo>
                <a:lnTo>
                  <a:pt x="3728071" y="0"/>
                </a:lnTo>
                <a:lnTo>
                  <a:pt x="3728071" y="1253564"/>
                </a:lnTo>
                <a:lnTo>
                  <a:pt x="0" y="12535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12692" y="4099380"/>
            <a:ext cx="15262616" cy="6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535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P2E: POWER TO EMPOWER CHALLENGE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63950" y="5595121"/>
            <a:ext cx="13760100" cy="26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4"/>
              </a:lnSpc>
              <a:spcBef>
                <a:spcPct val="0"/>
              </a:spcBef>
            </a:pPr>
            <a:r>
              <a:rPr lang="en-US" sz="2753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IEEE SIGHT Group Tunisia Section &amp; IEEE TEMS/SSIT Tunisia Section Joint Chapter</a:t>
            </a:r>
          </a:p>
          <a:p>
            <a:pPr algn="ctr">
              <a:lnSpc>
                <a:spcPts val="3854"/>
              </a:lnSpc>
              <a:spcBef>
                <a:spcPct val="0"/>
              </a:spcBef>
            </a:pPr>
            <a:r>
              <a:rPr lang="en-US" sz="2753" spc="79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Open Sans"/>
                <a:ea typeface="Open Sans"/>
                <a:cs typeface="Open Sans"/>
                <a:sym typeface="Open Sans"/>
              </a:rPr>
              <a:t>TSYP 13 TECHNICAL CHALLENGE</a:t>
            </a:r>
          </a:p>
          <a:p>
            <a:pPr algn="ctr">
              <a:lnSpc>
                <a:spcPts val="3854"/>
              </a:lnSpc>
              <a:spcBef>
                <a:spcPct val="0"/>
              </a:spcBef>
            </a:pPr>
          </a:p>
          <a:p>
            <a:pPr algn="ctr">
              <a:lnSpc>
                <a:spcPts val="4509"/>
              </a:lnSpc>
              <a:spcBef>
                <a:spcPct val="0"/>
              </a:spcBef>
            </a:pPr>
            <a:r>
              <a:rPr lang="en-US" sz="3220">
                <a:solidFill>
                  <a:srgbClr val="8FD0F1"/>
                </a:solidFill>
                <a:latin typeface="Open Sans"/>
                <a:ea typeface="Open Sans"/>
                <a:cs typeface="Open Sans"/>
                <a:sym typeface="Open Sans"/>
              </a:rPr>
              <a:t>Project Title:</a:t>
            </a:r>
          </a:p>
          <a:p>
            <a:pPr algn="ctr">
              <a:lnSpc>
                <a:spcPts val="5326"/>
              </a:lnSpc>
              <a:spcBef>
                <a:spcPct val="0"/>
              </a:spcBef>
            </a:pPr>
            <a:r>
              <a:rPr lang="en-US" sz="380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A8BEFF">
                        <a:alpha val="100000"/>
                      </a:srgbClr>
                    </a:gs>
                    <a:gs pos="100000">
                      <a:srgbClr val="FD9F9F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RemindMeBox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55474" cy="10431961"/>
            <a:chOff x="0" y="0"/>
            <a:chExt cx="24607298" cy="1390928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737118" cy="13909282"/>
              <a:chOff x="0" y="0"/>
              <a:chExt cx="4790002" cy="280680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90003" cy="2806806"/>
              </a:xfrm>
              <a:custGeom>
                <a:avLst/>
                <a:gdLst/>
                <a:ahLst/>
                <a:cxnLst/>
                <a:rect r="r" b="b" t="t" l="l"/>
                <a:pathLst>
                  <a:path h="2806806" w="4790003">
                    <a:moveTo>
                      <a:pt x="0" y="0"/>
                    </a:moveTo>
                    <a:lnTo>
                      <a:pt x="4790003" y="0"/>
                    </a:lnTo>
                    <a:lnTo>
                      <a:pt x="4790003" y="2806806"/>
                    </a:lnTo>
                    <a:lnTo>
                      <a:pt x="0" y="2806806"/>
                    </a:ln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90002" cy="2844906"/>
              </a:xfrm>
              <a:prstGeom prst="rect">
                <a:avLst/>
              </a:prstGeom>
            </p:spPr>
            <p:txBody>
              <a:bodyPr anchor="ctr" rtlCol="false" tIns="49727" lIns="49727" bIns="49727" rIns="49727"/>
              <a:lstStyle/>
              <a:p>
                <a:pPr algn="ctr">
                  <a:lnSpc>
                    <a:spcPts val="235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607298" cy="13909282"/>
            </a:xfrm>
            <a:custGeom>
              <a:avLst/>
              <a:gdLst/>
              <a:ahLst/>
              <a:cxnLst/>
              <a:rect r="r" b="b" t="t" l="l"/>
              <a:pathLst>
                <a:path h="13909282" w="24607298">
                  <a:moveTo>
                    <a:pt x="0" y="0"/>
                  </a:moveTo>
                  <a:lnTo>
                    <a:pt x="24607298" y="0"/>
                  </a:lnTo>
                  <a:lnTo>
                    <a:pt x="24607298" y="13909282"/>
                  </a:lnTo>
                  <a:lnTo>
                    <a:pt x="0" y="13909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8000"/>
              </a:blip>
              <a:stretch>
                <a:fillRect l="-45286" t="-190225" r="0" b="-16727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35621" y="253475"/>
            <a:ext cx="17616759" cy="9814430"/>
            <a:chOff x="0" y="0"/>
            <a:chExt cx="23489012" cy="130859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489012" cy="13040066"/>
            </a:xfrm>
            <a:custGeom>
              <a:avLst/>
              <a:gdLst/>
              <a:ahLst/>
              <a:cxnLst/>
              <a:rect r="r" b="b" t="t" l="l"/>
              <a:pathLst>
                <a:path h="13040066" w="23489012">
                  <a:moveTo>
                    <a:pt x="0" y="0"/>
                  </a:moveTo>
                  <a:lnTo>
                    <a:pt x="23489012" y="0"/>
                  </a:lnTo>
                  <a:lnTo>
                    <a:pt x="23489012" y="13040066"/>
                  </a:lnTo>
                  <a:lnTo>
                    <a:pt x="0" y="13040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5000"/>
              </a:blip>
              <a:stretch>
                <a:fillRect l="0" t="-9465" r="0" b="-1062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0"/>
              <a:ext cx="23489012" cy="13040066"/>
              <a:chOff x="0" y="0"/>
              <a:chExt cx="4639805" cy="25758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A83">
                      <a:alpha val="24000"/>
                    </a:srgbClr>
                  </a:gs>
                  <a:gs pos="33333">
                    <a:srgbClr val="2F0250">
                      <a:alpha val="24000"/>
                    </a:srgbClr>
                  </a:gs>
                  <a:gs pos="66667">
                    <a:srgbClr val="820443">
                      <a:alpha val="24000"/>
                    </a:srgbClr>
                  </a:gs>
                  <a:gs pos="100000">
                    <a:srgbClr val="800001">
                      <a:alpha val="24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23489012" cy="13040066"/>
              <a:chOff x="0" y="0"/>
              <a:chExt cx="4639805" cy="25758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solidFill>
                <a:srgbClr val="000000">
                  <a:alpha val="6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  <a:p>
                <a:pPr algn="ctr">
                  <a:lnSpc>
                    <a:spcPts val="299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45841"/>
              <a:ext cx="23489012" cy="13040066"/>
              <a:chOff x="0" y="0"/>
              <a:chExt cx="4639805" cy="25758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A83">
                      <a:alpha val="24000"/>
                    </a:srgbClr>
                  </a:gs>
                  <a:gs pos="33333">
                    <a:srgbClr val="2F0250">
                      <a:alpha val="24000"/>
                    </a:srgbClr>
                  </a:gs>
                  <a:gs pos="66667">
                    <a:srgbClr val="820443">
                      <a:alpha val="24000"/>
                    </a:srgbClr>
                  </a:gs>
                  <a:gs pos="100000">
                    <a:srgbClr val="800001">
                      <a:alpha val="24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1764338" y="3090139"/>
            <a:ext cx="7379662" cy="5784417"/>
            <a:chOff x="0" y="0"/>
            <a:chExt cx="9839550" cy="771255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872489"/>
              <a:ext cx="9839550" cy="3132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80"/>
                </a:lnSpc>
              </a:pPr>
              <a:r>
                <a:rPr lang="en-US" b="true" sz="17638" spc="-829">
                  <a:solidFill>
                    <a:srgbClr val="FEFEFE"/>
                  </a:solidFill>
                  <a:latin typeface="Open Sans Ultra-Bold"/>
                  <a:ea typeface="Open Sans Ultra-Bold"/>
                  <a:cs typeface="Open Sans Ultra-Bold"/>
                  <a:sym typeface="Open Sans Ultra-Bold"/>
                </a:rPr>
                <a:t>70%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1210556" y="0"/>
              <a:ext cx="7712556" cy="7712556"/>
            </a:xfrm>
            <a:custGeom>
              <a:avLst/>
              <a:gdLst/>
              <a:ahLst/>
              <a:cxnLst/>
              <a:rect r="r" b="b" t="t" l="l"/>
              <a:pathLst>
                <a:path h="7712556" w="7712556">
                  <a:moveTo>
                    <a:pt x="0" y="0"/>
                  </a:moveTo>
                  <a:lnTo>
                    <a:pt x="7712556" y="0"/>
                  </a:lnTo>
                  <a:lnTo>
                    <a:pt x="7712556" y="7712556"/>
                  </a:lnTo>
                  <a:lnTo>
                    <a:pt x="0" y="7712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21" id="21"/>
            <p:cNvGrpSpPr/>
            <p:nvPr/>
          </p:nvGrpSpPr>
          <p:grpSpPr>
            <a:xfrm rot="0">
              <a:off x="1210556" y="0"/>
              <a:ext cx="7424681" cy="742468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695"/>
                    </a:srgbClr>
                  </a:gs>
                  <a:gs pos="33333">
                    <a:srgbClr val="220239">
                      <a:alpha val="14880"/>
                    </a:srgbClr>
                  </a:gs>
                  <a:gs pos="66667">
                    <a:srgbClr val="490326">
                      <a:alpha val="12090"/>
                    </a:srgbClr>
                  </a:gs>
                  <a:gs pos="100000">
                    <a:srgbClr val="300202">
                      <a:alpha val="93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133350"/>
                <a:ext cx="660400" cy="603250"/>
              </a:xfrm>
              <a:prstGeom prst="rect">
                <a:avLst/>
              </a:prstGeom>
            </p:spPr>
            <p:txBody>
              <a:bodyPr anchor="ctr" rtlCol="false" tIns="53982" lIns="53982" bIns="53982" rIns="53982"/>
              <a:lstStyle/>
              <a:p>
                <a:pPr algn="ctr">
                  <a:lnSpc>
                    <a:spcPts val="234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1844922"/>
              <a:ext cx="9839550" cy="3132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80"/>
                </a:lnSpc>
              </a:pPr>
              <a:r>
                <a:rPr lang="en-US" b="true" sz="17638" spc="-829">
                  <a:solidFill>
                    <a:srgbClr val="FEFEFE"/>
                  </a:solidFill>
                  <a:latin typeface="Open Sans Ultra-Bold"/>
                  <a:ea typeface="Open Sans Ultra-Bold"/>
                  <a:cs typeface="Open Sans Ultra-Bold"/>
                  <a:sym typeface="Open Sans Ultra-Bold"/>
                </a:rPr>
                <a:t>70%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133348" y="4791487"/>
              <a:ext cx="5796151" cy="1116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0"/>
                </a:lnSpc>
              </a:pPr>
              <a:r>
                <a:rPr lang="en-US" sz="1636" spc="-76">
                  <a:solidFill>
                    <a:srgbClr val="FEFEFE"/>
                  </a:solidFill>
                  <a:latin typeface="Open Sans"/>
                  <a:ea typeface="Open Sans"/>
                  <a:cs typeface="Open Sans"/>
                  <a:sym typeface="Open Sans"/>
                </a:rPr>
                <a:t>of individuals struggle to maintain consistent medication routines due to disrupted access,  and scarce caregiver support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2020810" y="3924948"/>
            <a:ext cx="3291840" cy="4114800"/>
          </a:xfrm>
          <a:custGeom>
            <a:avLst/>
            <a:gdLst/>
            <a:ahLst/>
            <a:cxnLst/>
            <a:rect r="r" b="b" t="t" l="l"/>
            <a:pathLst>
              <a:path h="4114800" w="3291840">
                <a:moveTo>
                  <a:pt x="0" y="0"/>
                </a:moveTo>
                <a:lnTo>
                  <a:pt x="3291840" y="0"/>
                </a:lnTo>
                <a:lnTo>
                  <a:pt x="32918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711428" y="9696602"/>
            <a:ext cx="486514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_RemindMeBox_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621270" y="1544383"/>
            <a:ext cx="9045460" cy="6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535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CRISIS-AFFECTED AREAS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512113" y="9431587"/>
            <a:ext cx="143321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55474" cy="10431961"/>
            <a:chOff x="0" y="0"/>
            <a:chExt cx="24607298" cy="1390928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737118" cy="13909282"/>
              <a:chOff x="0" y="0"/>
              <a:chExt cx="4790002" cy="280680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90003" cy="2806806"/>
              </a:xfrm>
              <a:custGeom>
                <a:avLst/>
                <a:gdLst/>
                <a:ahLst/>
                <a:cxnLst/>
                <a:rect r="r" b="b" t="t" l="l"/>
                <a:pathLst>
                  <a:path h="2806806" w="4790003">
                    <a:moveTo>
                      <a:pt x="0" y="0"/>
                    </a:moveTo>
                    <a:lnTo>
                      <a:pt x="4790003" y="0"/>
                    </a:lnTo>
                    <a:lnTo>
                      <a:pt x="4790003" y="2806806"/>
                    </a:lnTo>
                    <a:lnTo>
                      <a:pt x="0" y="2806806"/>
                    </a:ln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90002" cy="2844906"/>
              </a:xfrm>
              <a:prstGeom prst="rect">
                <a:avLst/>
              </a:prstGeom>
            </p:spPr>
            <p:txBody>
              <a:bodyPr anchor="ctr" rtlCol="false" tIns="49727" lIns="49727" bIns="49727" rIns="49727"/>
              <a:lstStyle/>
              <a:p>
                <a:pPr algn="ctr">
                  <a:lnSpc>
                    <a:spcPts val="235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607298" cy="13909282"/>
            </a:xfrm>
            <a:custGeom>
              <a:avLst/>
              <a:gdLst/>
              <a:ahLst/>
              <a:cxnLst/>
              <a:rect r="r" b="b" t="t" l="l"/>
              <a:pathLst>
                <a:path h="13909282" w="24607298">
                  <a:moveTo>
                    <a:pt x="0" y="0"/>
                  </a:moveTo>
                  <a:lnTo>
                    <a:pt x="24607298" y="0"/>
                  </a:lnTo>
                  <a:lnTo>
                    <a:pt x="24607298" y="13909282"/>
                  </a:lnTo>
                  <a:lnTo>
                    <a:pt x="0" y="13909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8000"/>
              </a:blip>
              <a:stretch>
                <a:fillRect l="-45286" t="-190225" r="0" b="-16727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35621" y="253475"/>
            <a:ext cx="17616759" cy="9814430"/>
            <a:chOff x="0" y="0"/>
            <a:chExt cx="23489012" cy="130859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489012" cy="13040066"/>
            </a:xfrm>
            <a:custGeom>
              <a:avLst/>
              <a:gdLst/>
              <a:ahLst/>
              <a:cxnLst/>
              <a:rect r="r" b="b" t="t" l="l"/>
              <a:pathLst>
                <a:path h="13040066" w="23489012">
                  <a:moveTo>
                    <a:pt x="0" y="0"/>
                  </a:moveTo>
                  <a:lnTo>
                    <a:pt x="23489012" y="0"/>
                  </a:lnTo>
                  <a:lnTo>
                    <a:pt x="23489012" y="13040066"/>
                  </a:lnTo>
                  <a:lnTo>
                    <a:pt x="0" y="13040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5000"/>
              </a:blip>
              <a:stretch>
                <a:fillRect l="0" t="-9465" r="0" b="-1062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0"/>
              <a:ext cx="23489012" cy="13040066"/>
              <a:chOff x="0" y="0"/>
              <a:chExt cx="4639805" cy="25758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A83">
                      <a:alpha val="24000"/>
                    </a:srgbClr>
                  </a:gs>
                  <a:gs pos="33333">
                    <a:srgbClr val="2F0250">
                      <a:alpha val="24000"/>
                    </a:srgbClr>
                  </a:gs>
                  <a:gs pos="66667">
                    <a:srgbClr val="820443">
                      <a:alpha val="24000"/>
                    </a:srgbClr>
                  </a:gs>
                  <a:gs pos="100000">
                    <a:srgbClr val="800001">
                      <a:alpha val="24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23489012" cy="13040066"/>
              <a:chOff x="0" y="0"/>
              <a:chExt cx="4639805" cy="25758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solidFill>
                <a:srgbClr val="000000">
                  <a:alpha val="6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  <a:p>
                <a:pPr algn="ctr">
                  <a:lnSpc>
                    <a:spcPts val="299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45841"/>
              <a:ext cx="23489012" cy="13040066"/>
              <a:chOff x="0" y="0"/>
              <a:chExt cx="4639805" cy="25758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A83">
                      <a:alpha val="24000"/>
                    </a:srgbClr>
                  </a:gs>
                  <a:gs pos="33333">
                    <a:srgbClr val="2F0250">
                      <a:alpha val="24000"/>
                    </a:srgbClr>
                  </a:gs>
                  <a:gs pos="66667">
                    <a:srgbClr val="820443">
                      <a:alpha val="24000"/>
                    </a:srgbClr>
                  </a:gs>
                  <a:gs pos="100000">
                    <a:srgbClr val="800001">
                      <a:alpha val="24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</p:txBody>
          </p:sp>
        </p:grpSp>
      </p:grpSp>
      <p:sp>
        <p:nvSpPr>
          <p:cNvPr name="TextBox 18" id="18"/>
          <p:cNvSpPr txBox="true"/>
          <p:nvPr/>
        </p:nvSpPr>
        <p:spPr>
          <a:xfrm rot="0">
            <a:off x="6711428" y="9696602"/>
            <a:ext cx="486514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_RemindMeBox_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62887" y="1469112"/>
            <a:ext cx="11962226" cy="136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535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COMPLEX REGIMENS IN HIGH-STRESS CONDITIONS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47687" y="3628773"/>
            <a:ext cx="13760100" cy="38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  <a:spcBef>
                <a:spcPct val="0"/>
              </a:spcBef>
            </a:pPr>
            <a:r>
              <a:rPr lang="en-US" sz="2253" spc="64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Open Sans"/>
                <a:ea typeface="Open Sans"/>
                <a:cs typeface="Open Sans"/>
                <a:sym typeface="Open Sans"/>
              </a:rPr>
              <a:t>AMONG REFUGEES WITH CHRONIC DISEASES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347687" y="5497240"/>
            <a:ext cx="5133734" cy="1864746"/>
            <a:chOff x="0" y="0"/>
            <a:chExt cx="6844979" cy="248632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307129"/>
              <a:ext cx="6844979" cy="2179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534"/>
                </a:lnSpc>
              </a:pPr>
              <a:r>
                <a:rPr lang="en-US" b="true" sz="12270" spc="-576">
                  <a:solidFill>
                    <a:srgbClr val="FEFEFE"/>
                  </a:solidFill>
                  <a:latin typeface="Open Sans Ultra-Bold"/>
                  <a:ea typeface="Open Sans Ultra-Bold"/>
                  <a:cs typeface="Open Sans Ultra-Bold"/>
                  <a:sym typeface="Open Sans Ultra-Bold"/>
                </a:rPr>
                <a:t> 59.5%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04800"/>
              <a:ext cx="6844979" cy="2179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534"/>
                </a:lnSpc>
              </a:pPr>
              <a:r>
                <a:rPr lang="en-US" b="true" sz="12270" spc="-576">
                  <a:solidFill>
                    <a:srgbClr val="FEFEFE"/>
                  </a:solidFill>
                  <a:latin typeface="Open Sans Ultra-Bold"/>
                  <a:ea typeface="Open Sans Ultra-Bold"/>
                  <a:cs typeface="Open Sans Ultra-Bold"/>
                  <a:sym typeface="Open Sans Ultra-Bold"/>
                </a:rPr>
                <a:t> 59.5%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304800"/>
              <a:ext cx="6844979" cy="2179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534"/>
                </a:lnSpc>
              </a:pPr>
              <a:r>
                <a:rPr lang="en-US" b="true" sz="12270" spc="-576">
                  <a:solidFill>
                    <a:srgbClr val="FEFEFE"/>
                  </a:solidFill>
                  <a:latin typeface="Open Sans Ultra-Bold"/>
                  <a:ea typeface="Open Sans Ultra-Bold"/>
                  <a:cs typeface="Open Sans Ultra-Bold"/>
                  <a:sym typeface="Open Sans Ultra-Bold"/>
                </a:rPr>
                <a:t> 59.5%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4053" y="5497240"/>
            <a:ext cx="5133734" cy="1864746"/>
            <a:chOff x="0" y="0"/>
            <a:chExt cx="6844979" cy="2486328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307129"/>
              <a:ext cx="6844979" cy="2179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534"/>
                </a:lnSpc>
              </a:pPr>
              <a:r>
                <a:rPr lang="en-US" b="true" sz="12270" spc="-576">
                  <a:solidFill>
                    <a:srgbClr val="FEFEFE"/>
                  </a:solidFill>
                  <a:latin typeface="Open Sans Ultra-Bold"/>
                  <a:ea typeface="Open Sans Ultra-Bold"/>
                  <a:cs typeface="Open Sans Ultra-Bold"/>
                  <a:sym typeface="Open Sans Ultra-Bold"/>
                </a:rPr>
                <a:t>67%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304800"/>
              <a:ext cx="6844979" cy="2179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534"/>
                </a:lnSpc>
              </a:pPr>
              <a:r>
                <a:rPr lang="en-US" b="true" sz="12270" spc="-576">
                  <a:solidFill>
                    <a:srgbClr val="FEFEFE"/>
                  </a:solidFill>
                  <a:latin typeface="Open Sans Ultra-Bold"/>
                  <a:ea typeface="Open Sans Ultra-Bold"/>
                  <a:cs typeface="Open Sans Ultra-Bold"/>
                  <a:sym typeface="Open Sans Ultra-Bold"/>
                </a:rPr>
                <a:t>67%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304800"/>
              <a:ext cx="6844979" cy="2179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534"/>
                </a:lnSpc>
              </a:pPr>
              <a:r>
                <a:rPr lang="en-US" b="true" sz="12270" spc="-576">
                  <a:solidFill>
                    <a:srgbClr val="FEFEFE"/>
                  </a:solidFill>
                  <a:latin typeface="Open Sans Ultra-Bold"/>
                  <a:ea typeface="Open Sans Ultra-Bold"/>
                  <a:cs typeface="Open Sans Ultra-Bold"/>
                  <a:sym typeface="Open Sans Ultra-Bold"/>
                </a:rPr>
                <a:t>67%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347687" y="4544830"/>
            <a:ext cx="13760100" cy="38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  <a:spcBef>
                <a:spcPct val="0"/>
              </a:spcBef>
            </a:pPr>
            <a:r>
              <a:rPr lang="en-US" sz="2253" spc="646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Open Sans"/>
                <a:ea typeface="Open Sans"/>
                <a:cs typeface="Open Sans"/>
                <a:sym typeface="Open Sans"/>
              </a:rPr>
              <a:t>ONLY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40997" y="7493622"/>
            <a:ext cx="4347113" cy="80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336" spc="-109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hypertension medication adherance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67363" y="7542342"/>
            <a:ext cx="4347113" cy="39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336" spc="-109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diabetes regimens adherance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512113" y="9431587"/>
            <a:ext cx="206127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55474" cy="10431961"/>
            <a:chOff x="0" y="0"/>
            <a:chExt cx="24607298" cy="1390928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737118" cy="13909282"/>
              <a:chOff x="0" y="0"/>
              <a:chExt cx="4790002" cy="280680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90003" cy="2806806"/>
              </a:xfrm>
              <a:custGeom>
                <a:avLst/>
                <a:gdLst/>
                <a:ahLst/>
                <a:cxnLst/>
                <a:rect r="r" b="b" t="t" l="l"/>
                <a:pathLst>
                  <a:path h="2806806" w="4790003">
                    <a:moveTo>
                      <a:pt x="0" y="0"/>
                    </a:moveTo>
                    <a:lnTo>
                      <a:pt x="4790003" y="0"/>
                    </a:lnTo>
                    <a:lnTo>
                      <a:pt x="4790003" y="2806806"/>
                    </a:lnTo>
                    <a:lnTo>
                      <a:pt x="0" y="2806806"/>
                    </a:ln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790002" cy="2844906"/>
              </a:xfrm>
              <a:prstGeom prst="rect">
                <a:avLst/>
              </a:prstGeom>
            </p:spPr>
            <p:txBody>
              <a:bodyPr anchor="ctr" rtlCol="false" tIns="49727" lIns="49727" bIns="49727" rIns="49727"/>
              <a:lstStyle/>
              <a:p>
                <a:pPr algn="ctr">
                  <a:lnSpc>
                    <a:spcPts val="235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607298" cy="13909282"/>
            </a:xfrm>
            <a:custGeom>
              <a:avLst/>
              <a:gdLst/>
              <a:ahLst/>
              <a:cxnLst/>
              <a:rect r="r" b="b" t="t" l="l"/>
              <a:pathLst>
                <a:path h="13909282" w="24607298">
                  <a:moveTo>
                    <a:pt x="0" y="0"/>
                  </a:moveTo>
                  <a:lnTo>
                    <a:pt x="24607298" y="0"/>
                  </a:lnTo>
                  <a:lnTo>
                    <a:pt x="24607298" y="13909282"/>
                  </a:lnTo>
                  <a:lnTo>
                    <a:pt x="0" y="139092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8000"/>
              </a:blip>
              <a:stretch>
                <a:fillRect l="-45286" t="-190225" r="0" b="-16727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35621" y="253475"/>
            <a:ext cx="17616759" cy="9814430"/>
            <a:chOff x="0" y="0"/>
            <a:chExt cx="23489012" cy="130859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489012" cy="13040066"/>
            </a:xfrm>
            <a:custGeom>
              <a:avLst/>
              <a:gdLst/>
              <a:ahLst/>
              <a:cxnLst/>
              <a:rect r="r" b="b" t="t" l="l"/>
              <a:pathLst>
                <a:path h="13040066" w="23489012">
                  <a:moveTo>
                    <a:pt x="0" y="0"/>
                  </a:moveTo>
                  <a:lnTo>
                    <a:pt x="23489012" y="0"/>
                  </a:lnTo>
                  <a:lnTo>
                    <a:pt x="23489012" y="13040066"/>
                  </a:lnTo>
                  <a:lnTo>
                    <a:pt x="0" y="13040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5000"/>
              </a:blip>
              <a:stretch>
                <a:fillRect l="0" t="-9465" r="0" b="-1062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0"/>
              <a:ext cx="23489012" cy="13040066"/>
              <a:chOff x="0" y="0"/>
              <a:chExt cx="4639805" cy="25758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A83">
                      <a:alpha val="24000"/>
                    </a:srgbClr>
                  </a:gs>
                  <a:gs pos="33333">
                    <a:srgbClr val="2F0250">
                      <a:alpha val="24000"/>
                    </a:srgbClr>
                  </a:gs>
                  <a:gs pos="66667">
                    <a:srgbClr val="820443">
                      <a:alpha val="24000"/>
                    </a:srgbClr>
                  </a:gs>
                  <a:gs pos="100000">
                    <a:srgbClr val="800001">
                      <a:alpha val="24000"/>
                    </a:srgbClr>
                  </a:gs>
                </a:gsLst>
                <a:lin ang="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23489012" cy="13040066"/>
              <a:chOff x="0" y="0"/>
              <a:chExt cx="4639805" cy="25758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solidFill>
                <a:srgbClr val="000000">
                  <a:alpha val="69804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  <a:p>
                <a:pPr algn="ctr">
                  <a:lnSpc>
                    <a:spcPts val="299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45841"/>
              <a:ext cx="23489012" cy="13040066"/>
              <a:chOff x="0" y="0"/>
              <a:chExt cx="4639805" cy="25758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639805" cy="2575816"/>
              </a:xfrm>
              <a:custGeom>
                <a:avLst/>
                <a:gdLst/>
                <a:ahLst/>
                <a:cxnLst/>
                <a:rect r="r" b="b" t="t" l="l"/>
                <a:pathLst>
                  <a:path h="2575816" w="4639805">
                    <a:moveTo>
                      <a:pt x="0" y="0"/>
                    </a:moveTo>
                    <a:lnTo>
                      <a:pt x="4639805" y="0"/>
                    </a:lnTo>
                    <a:lnTo>
                      <a:pt x="4639805" y="2575816"/>
                    </a:lnTo>
                    <a:lnTo>
                      <a:pt x="0" y="257581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A83">
                      <a:alpha val="24000"/>
                    </a:srgbClr>
                  </a:gs>
                  <a:gs pos="33333">
                    <a:srgbClr val="2F0250">
                      <a:alpha val="24000"/>
                    </a:srgbClr>
                  </a:gs>
                  <a:gs pos="66667">
                    <a:srgbClr val="820443">
                      <a:alpha val="24000"/>
                    </a:srgbClr>
                  </a:gs>
                  <a:gs pos="100000">
                    <a:srgbClr val="800001">
                      <a:alpha val="24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4639805" cy="26329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97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4725102" y="4647981"/>
            <a:ext cx="3972652" cy="4114800"/>
          </a:xfrm>
          <a:custGeom>
            <a:avLst/>
            <a:gdLst/>
            <a:ahLst/>
            <a:cxnLst/>
            <a:rect r="r" b="b" t="t" l="l"/>
            <a:pathLst>
              <a:path h="4114800" w="3972652">
                <a:moveTo>
                  <a:pt x="0" y="0"/>
                </a:moveTo>
                <a:lnTo>
                  <a:pt x="3972653" y="0"/>
                </a:lnTo>
                <a:lnTo>
                  <a:pt x="3972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20047" y="4647981"/>
            <a:ext cx="5847907" cy="4114800"/>
          </a:xfrm>
          <a:custGeom>
            <a:avLst/>
            <a:gdLst/>
            <a:ahLst/>
            <a:cxnLst/>
            <a:rect r="r" b="b" t="t" l="l"/>
            <a:pathLst>
              <a:path h="4114800" w="5847907">
                <a:moveTo>
                  <a:pt x="0" y="0"/>
                </a:moveTo>
                <a:lnTo>
                  <a:pt x="5847906" y="0"/>
                </a:lnTo>
                <a:lnTo>
                  <a:pt x="58479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11428" y="9696602"/>
            <a:ext cx="486514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_RemindMeBox_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62887" y="1469112"/>
            <a:ext cx="11962226" cy="136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535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COLLAPSE OF REAL-TIME MONITORING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47687" y="3638298"/>
            <a:ext cx="13760100" cy="62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4"/>
              </a:lnSpc>
              <a:spcBef>
                <a:spcPct val="0"/>
              </a:spcBef>
            </a:pPr>
            <a:r>
              <a:rPr lang="en-US" sz="1853" spc="53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Open Sans"/>
                <a:ea typeface="Open Sans"/>
                <a:cs typeface="Open Sans"/>
                <a:sym typeface="Open Sans"/>
              </a:rPr>
              <a:t>LACK OF TRACKING ADHERANCE IN EMERGENCY SHELTERS, OVERLOADED COMMUNITY CENTERS, AND FRACTURED HEALTHCARE SYSTEMS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12113" y="9431587"/>
            <a:ext cx="209550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055688" y="1066800"/>
            <a:ext cx="8176623" cy="2137867"/>
            <a:chOff x="0" y="0"/>
            <a:chExt cx="10902165" cy="285049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197601" y="104775"/>
              <a:ext cx="8506962" cy="9750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12"/>
                </a:lnSpc>
              </a:pPr>
              <a:r>
                <a:rPr lang="en-US" sz="5366">
                  <a:solidFill>
                    <a:srgbClr val="023A8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OUR SOLUTION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596281"/>
              <a:ext cx="10902165" cy="1254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8"/>
                </a:lnSpc>
              </a:pPr>
              <a:r>
                <a:rPr lang="en-US" sz="6877">
                  <a:solidFill>
                    <a:srgbClr val="023A8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REMINDMEBOX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81502" y="3388424"/>
            <a:ext cx="7461545" cy="5263377"/>
            <a:chOff x="0" y="0"/>
            <a:chExt cx="9948727" cy="7017836"/>
          </a:xfrm>
        </p:grpSpPr>
        <p:grpSp>
          <p:nvGrpSpPr>
            <p:cNvPr name="Group 11" id="11"/>
            <p:cNvGrpSpPr>
              <a:grpSpLocks noChangeAspect="true"/>
            </p:cNvGrpSpPr>
            <p:nvPr/>
          </p:nvGrpSpPr>
          <p:grpSpPr>
            <a:xfrm rot="0">
              <a:off x="6525503" y="122199"/>
              <a:ext cx="3423224" cy="6773437"/>
              <a:chOff x="0" y="0"/>
              <a:chExt cx="2620010" cy="518414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r="r" b="b" t="t" l="l"/>
                <a:pathLst>
                  <a:path h="5132070" w="251333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2250453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-335" r="0" b="-335"/>
                </a:stretch>
              </a:blip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r="r" b="b" t="t" l="l"/>
                <a:pathLst>
                  <a:path h="43180" w="3479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r="r" b="b" t="t" l="l"/>
                <a:pathLst>
                  <a:path h="63501" w="63785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685800"/>
                <a:ext cx="27940" cy="213360"/>
              </a:xfrm>
              <a:custGeom>
                <a:avLst/>
                <a:gdLst/>
                <a:ahLst/>
                <a:cxnLst/>
                <a:rect r="r" b="b" t="t" l="l"/>
                <a:pathLst>
                  <a:path h="213360" w="2794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1057910"/>
                <a:ext cx="27940" cy="384810"/>
              </a:xfrm>
              <a:custGeom>
                <a:avLst/>
                <a:gdLst/>
                <a:ahLst/>
                <a:cxnLst/>
                <a:rect r="r" b="b" t="t" l="l"/>
                <a:pathLst>
                  <a:path h="384810" w="2794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1526540"/>
                <a:ext cx="27940" cy="386080"/>
              </a:xfrm>
              <a:custGeom>
                <a:avLst/>
                <a:gdLst/>
                <a:ahLst/>
                <a:cxnLst/>
                <a:rect r="r" b="b" t="t" l="l"/>
                <a:pathLst>
                  <a:path h="386080" w="2794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r="r" b="b" t="t" l="l"/>
                <a:pathLst>
                  <a:path h="618490" w="2794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27940" y="0"/>
                <a:ext cx="2564130" cy="5182870"/>
              </a:xfrm>
              <a:custGeom>
                <a:avLst/>
                <a:gdLst/>
                <a:ahLst/>
                <a:cxnLst/>
                <a:rect r="r" b="b" t="t" l="l"/>
                <a:pathLst>
                  <a:path h="5182870" w="256413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26913" cy="7017836"/>
            </a:xfrm>
            <a:custGeom>
              <a:avLst/>
              <a:gdLst/>
              <a:ahLst/>
              <a:cxnLst/>
              <a:rect r="r" b="b" t="t" l="l"/>
              <a:pathLst>
                <a:path h="7017836" w="5626913">
                  <a:moveTo>
                    <a:pt x="0" y="0"/>
                  </a:moveTo>
                  <a:lnTo>
                    <a:pt x="5626913" y="0"/>
                  </a:lnTo>
                  <a:lnTo>
                    <a:pt x="5626913" y="7017836"/>
                  </a:lnTo>
                  <a:lnTo>
                    <a:pt x="0" y="7017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89846" y="8984544"/>
            <a:ext cx="10508307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INTELLIGENT MEDICATION CONTROL FOR THE POLYCRISIS ERA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512113" y="9431587"/>
            <a:ext cx="219521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61064" y="5865491"/>
            <a:ext cx="2965873" cy="3699010"/>
          </a:xfrm>
          <a:custGeom>
            <a:avLst/>
            <a:gdLst/>
            <a:ahLst/>
            <a:cxnLst/>
            <a:rect r="r" b="b" t="t" l="l"/>
            <a:pathLst>
              <a:path h="3699010" w="2965873">
                <a:moveTo>
                  <a:pt x="0" y="0"/>
                </a:moveTo>
                <a:lnTo>
                  <a:pt x="2965872" y="0"/>
                </a:lnTo>
                <a:lnTo>
                  <a:pt x="2965872" y="3699010"/>
                </a:lnTo>
                <a:lnTo>
                  <a:pt x="0" y="3699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58497" y="3550897"/>
            <a:ext cx="1821266" cy="1821266"/>
          </a:xfrm>
          <a:custGeom>
            <a:avLst/>
            <a:gdLst/>
            <a:ahLst/>
            <a:cxnLst/>
            <a:rect r="r" b="b" t="t" l="l"/>
            <a:pathLst>
              <a:path h="1821266" w="1821266">
                <a:moveTo>
                  <a:pt x="0" y="0"/>
                </a:moveTo>
                <a:lnTo>
                  <a:pt x="1821266" y="0"/>
                </a:lnTo>
                <a:lnTo>
                  <a:pt x="1821266" y="1821266"/>
                </a:lnTo>
                <a:lnTo>
                  <a:pt x="0" y="1821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03511" y="3295095"/>
            <a:ext cx="1819893" cy="1895722"/>
          </a:xfrm>
          <a:custGeom>
            <a:avLst/>
            <a:gdLst/>
            <a:ahLst/>
            <a:cxnLst/>
            <a:rect r="r" b="b" t="t" l="l"/>
            <a:pathLst>
              <a:path h="1895722" w="1819893">
                <a:moveTo>
                  <a:pt x="0" y="0"/>
                </a:moveTo>
                <a:lnTo>
                  <a:pt x="1819893" y="0"/>
                </a:lnTo>
                <a:lnTo>
                  <a:pt x="1819893" y="1895721"/>
                </a:lnTo>
                <a:lnTo>
                  <a:pt x="0" y="18957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22711" y="2791177"/>
            <a:ext cx="1442578" cy="1670353"/>
          </a:xfrm>
          <a:custGeom>
            <a:avLst/>
            <a:gdLst/>
            <a:ahLst/>
            <a:cxnLst/>
            <a:rect r="r" b="b" t="t" l="l"/>
            <a:pathLst>
              <a:path h="1670353" w="1442578">
                <a:moveTo>
                  <a:pt x="0" y="0"/>
                </a:moveTo>
                <a:lnTo>
                  <a:pt x="1442578" y="0"/>
                </a:lnTo>
                <a:lnTo>
                  <a:pt x="1442578" y="1670353"/>
                </a:lnTo>
                <a:lnTo>
                  <a:pt x="0" y="16703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32424" y="6766954"/>
            <a:ext cx="2073411" cy="2021555"/>
          </a:xfrm>
          <a:custGeom>
            <a:avLst/>
            <a:gdLst/>
            <a:ahLst/>
            <a:cxnLst/>
            <a:rect r="r" b="b" t="t" l="l"/>
            <a:pathLst>
              <a:path h="2021555" w="2073411">
                <a:moveTo>
                  <a:pt x="0" y="0"/>
                </a:moveTo>
                <a:lnTo>
                  <a:pt x="2073411" y="0"/>
                </a:lnTo>
                <a:lnTo>
                  <a:pt x="2073411" y="2021555"/>
                </a:lnTo>
                <a:lnTo>
                  <a:pt x="0" y="20215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03511" y="6766954"/>
            <a:ext cx="1965374" cy="1965374"/>
          </a:xfrm>
          <a:custGeom>
            <a:avLst/>
            <a:gdLst/>
            <a:ahLst/>
            <a:cxnLst/>
            <a:rect r="r" b="b" t="t" l="l"/>
            <a:pathLst>
              <a:path h="1965374" w="1965374">
                <a:moveTo>
                  <a:pt x="0" y="0"/>
                </a:moveTo>
                <a:lnTo>
                  <a:pt x="1965375" y="0"/>
                </a:lnTo>
                <a:lnTo>
                  <a:pt x="1965375" y="1965374"/>
                </a:lnTo>
                <a:lnTo>
                  <a:pt x="0" y="19653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53889" y="1171575"/>
            <a:ext cx="6380221" cy="70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055688" y="1489687"/>
            <a:ext cx="8176623" cy="9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8"/>
              </a:lnSpc>
            </a:pPr>
            <a:r>
              <a:rPr lang="en-US" sz="6877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7007" y="5513066"/>
            <a:ext cx="382329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78">
                <a:solidFill>
                  <a:srgbClr val="203F6C"/>
                </a:solidFill>
                <a:latin typeface="Poppins"/>
                <a:ea typeface="Poppins"/>
                <a:cs typeface="Poppins"/>
                <a:sym typeface="Poppins"/>
              </a:rPr>
              <a:t>SMART AUTOMATED PILL DISPENSING SYSTEM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7482" y="8826609"/>
            <a:ext cx="382329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80">
                <a:solidFill>
                  <a:srgbClr val="324DA1"/>
                </a:solidFill>
                <a:latin typeface="Poppins"/>
                <a:ea typeface="Poppins"/>
                <a:cs typeface="Poppins"/>
                <a:sym typeface="Poppins"/>
              </a:rPr>
              <a:t>REAL TIME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80">
                <a:solidFill>
                  <a:srgbClr val="324DA1"/>
                </a:solidFill>
                <a:latin typeface="Poppins"/>
                <a:ea typeface="Poppins"/>
                <a:cs typeface="Poppins"/>
                <a:sym typeface="Poppins"/>
              </a:rPr>
              <a:t>TRACKING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45655" y="5390706"/>
            <a:ext cx="461364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80">
                <a:solidFill>
                  <a:srgbClr val="324DA1"/>
                </a:solidFill>
                <a:latin typeface="Poppins"/>
                <a:ea typeface="Poppins"/>
                <a:cs typeface="Poppins"/>
                <a:sym typeface="Poppins"/>
              </a:rPr>
              <a:t>REAL TIME MONITORING VIA MOBILE APP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74551" y="8824520"/>
            <a:ext cx="3823296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80">
                <a:solidFill>
                  <a:srgbClr val="324DA1"/>
                </a:solidFill>
                <a:latin typeface="Poppins"/>
                <a:ea typeface="Poppins"/>
                <a:cs typeface="Poppins"/>
                <a:sym typeface="Poppins"/>
              </a:rPr>
              <a:t>AI ASSISTANCE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34352" y="4594977"/>
            <a:ext cx="4613645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80">
                <a:solidFill>
                  <a:srgbClr val="324DA1"/>
                </a:solidFill>
                <a:latin typeface="Poppins"/>
                <a:ea typeface="Poppins"/>
                <a:cs typeface="Poppins"/>
                <a:sym typeface="Poppins"/>
              </a:rPr>
              <a:t>ALERTS REMINDERS AND NOTFICATIONS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512113" y="9431587"/>
            <a:ext cx="219224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11428" y="944111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8923" y="1414416"/>
            <a:ext cx="14010154" cy="9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8"/>
              </a:lnSpc>
            </a:pPr>
            <a:r>
              <a:rPr lang="en-US" sz="6877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MISSION, VISION &amp; VALUES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378768" y="2817959"/>
            <a:ext cx="3530464" cy="3530464"/>
            <a:chOff x="0" y="0"/>
            <a:chExt cx="4707286" cy="47072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07286" cy="4707286"/>
            </a:xfrm>
            <a:custGeom>
              <a:avLst/>
              <a:gdLst/>
              <a:ahLst/>
              <a:cxnLst/>
              <a:rect r="r" b="b" t="t" l="l"/>
              <a:pathLst>
                <a:path h="4707286" w="4707286">
                  <a:moveTo>
                    <a:pt x="0" y="0"/>
                  </a:moveTo>
                  <a:lnTo>
                    <a:pt x="4707286" y="0"/>
                  </a:lnTo>
                  <a:lnTo>
                    <a:pt x="4707286" y="4707286"/>
                  </a:lnTo>
                  <a:lnTo>
                    <a:pt x="0" y="4707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1" id="11"/>
            <p:cNvGrpSpPr/>
            <p:nvPr/>
          </p:nvGrpSpPr>
          <p:grpSpPr>
            <a:xfrm rot="0">
              <a:off x="96418" y="62483"/>
              <a:ext cx="4391940" cy="439194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742" t="0" r="-3742" b="-7484"/>
                </a:stretch>
              </a:blipFill>
            </p:spPr>
          </p:sp>
        </p:grpSp>
      </p:grpSp>
      <p:grpSp>
        <p:nvGrpSpPr>
          <p:cNvPr name="Group 13" id="13"/>
          <p:cNvGrpSpPr/>
          <p:nvPr/>
        </p:nvGrpSpPr>
        <p:grpSpPr>
          <a:xfrm rot="0">
            <a:off x="1028700" y="4102205"/>
            <a:ext cx="3987542" cy="1883167"/>
            <a:chOff x="0" y="0"/>
            <a:chExt cx="5316723" cy="251089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5097728" cy="55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90"/>
                </a:lnSpc>
                <a:spcBef>
                  <a:spcPct val="0"/>
                </a:spcBef>
              </a:pPr>
              <a:r>
                <a:rPr lang="en-US" b="true" sz="2422" spc="-164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MISSION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18996" y="1102248"/>
              <a:ext cx="5097728" cy="140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8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EMPOWERING THE VULNERABLE. SUPPORTING THE CAREGIVER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199015" y="6844647"/>
            <a:ext cx="3889971" cy="2059380"/>
            <a:chOff x="0" y="0"/>
            <a:chExt cx="5186628" cy="274584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5097728" cy="55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90"/>
                </a:lnSpc>
                <a:spcBef>
                  <a:spcPct val="0"/>
                </a:spcBef>
              </a:pPr>
              <a:r>
                <a:rPr lang="en-US" b="true" sz="2422" spc="-164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VISION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88900" y="867298"/>
              <a:ext cx="5097728" cy="1878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18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REVOLUTIONIZING GLOBAL MEDICATION MANAGEMENT ESPECIALLY IN UNSTABLE ENVIRONMENTS.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955174" y="4102205"/>
            <a:ext cx="5667444" cy="2411805"/>
            <a:chOff x="0" y="0"/>
            <a:chExt cx="7556592" cy="321574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990293" y="-66675"/>
              <a:ext cx="5097728" cy="55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90"/>
                </a:lnSpc>
                <a:spcBef>
                  <a:spcPct val="0"/>
                </a:spcBef>
              </a:pPr>
              <a:r>
                <a:rPr lang="en-US" b="true" sz="2422" spc="-164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VALUES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867298"/>
              <a:ext cx="7556592" cy="234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spc="18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EFFICACY &amp; </a:t>
              </a:r>
              <a:r>
                <a:rPr lang="en-US" sz="2000" spc="18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RELIABILITY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 spc="18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ETHICAL &amp; INCLUSIVE DESIGN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 spc="18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SUSTAINABLE RESILIENCE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 spc="18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HUMAN-CENTERED SUPPORT</a:t>
              </a:r>
            </a:p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512113" y="9431587"/>
            <a:ext cx="221010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8923" y="1414416"/>
            <a:ext cx="14010154" cy="9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8"/>
              </a:lnSpc>
            </a:pPr>
            <a:r>
              <a:rPr lang="en-US" sz="6877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OVERVIEW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3217994"/>
            <a:ext cx="3797855" cy="4736650"/>
          </a:xfrm>
          <a:custGeom>
            <a:avLst/>
            <a:gdLst/>
            <a:ahLst/>
            <a:cxnLst/>
            <a:rect r="r" b="b" t="t" l="l"/>
            <a:pathLst>
              <a:path h="4736650" w="3797855">
                <a:moveTo>
                  <a:pt x="0" y="0"/>
                </a:moveTo>
                <a:lnTo>
                  <a:pt x="3797855" y="0"/>
                </a:lnTo>
                <a:lnTo>
                  <a:pt x="3797855" y="4736650"/>
                </a:lnTo>
                <a:lnTo>
                  <a:pt x="0" y="4736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3750212" y="3250941"/>
            <a:ext cx="2310487" cy="4571695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35" r="0" b="-335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7364296" y="4271563"/>
            <a:ext cx="3559409" cy="2629513"/>
          </a:xfrm>
          <a:custGeom>
            <a:avLst/>
            <a:gdLst/>
            <a:ahLst/>
            <a:cxnLst/>
            <a:rect r="r" b="b" t="t" l="l"/>
            <a:pathLst>
              <a:path h="2629513" w="3559409">
                <a:moveTo>
                  <a:pt x="0" y="0"/>
                </a:moveTo>
                <a:lnTo>
                  <a:pt x="3559408" y="0"/>
                </a:lnTo>
                <a:lnTo>
                  <a:pt x="3559408" y="2629513"/>
                </a:lnTo>
                <a:lnTo>
                  <a:pt x="0" y="26295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flipH="true" flipV="true">
            <a:off x="11166247" y="5619266"/>
            <a:ext cx="2094514" cy="0"/>
          </a:xfrm>
          <a:prstGeom prst="line">
            <a:avLst/>
          </a:prstGeom>
          <a:ln cap="flat" w="57150">
            <a:solidFill>
              <a:srgbClr val="203F6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>
            <a:off x="11166425" y="5870328"/>
            <a:ext cx="2094450" cy="16473"/>
          </a:xfrm>
          <a:prstGeom prst="line">
            <a:avLst/>
          </a:prstGeom>
          <a:ln cap="flat" w="57150">
            <a:solidFill>
              <a:srgbClr val="730F2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H="true" flipV="true">
            <a:off x="4826601" y="5565363"/>
            <a:ext cx="2094514" cy="0"/>
          </a:xfrm>
          <a:prstGeom prst="line">
            <a:avLst/>
          </a:prstGeom>
          <a:ln cap="flat" w="57150">
            <a:solidFill>
              <a:srgbClr val="730F2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>
            <a:off x="4826780" y="5816425"/>
            <a:ext cx="2094450" cy="16473"/>
          </a:xfrm>
          <a:prstGeom prst="line">
            <a:avLst/>
          </a:prstGeom>
          <a:ln cap="flat" w="57150">
            <a:solidFill>
              <a:srgbClr val="023A8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1003259" y="8239248"/>
            <a:ext cx="15813844" cy="367105"/>
            <a:chOff x="0" y="0"/>
            <a:chExt cx="21085125" cy="48947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66675"/>
              <a:ext cx="5097728" cy="55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90"/>
                </a:lnSpc>
                <a:spcBef>
                  <a:spcPct val="0"/>
                </a:spcBef>
              </a:pPr>
              <a:r>
                <a:rPr lang="en-US" b="true" sz="2422" spc="-164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REMINDMEBOX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8129533" y="-66675"/>
              <a:ext cx="5097728" cy="55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90"/>
                </a:lnSpc>
                <a:spcBef>
                  <a:spcPct val="0"/>
                </a:spcBef>
              </a:pPr>
              <a:r>
                <a:rPr lang="en-US" b="true" sz="2422" spc="-164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CLOUD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5987398" y="-66675"/>
              <a:ext cx="5097728" cy="556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90"/>
                </a:lnSpc>
                <a:spcBef>
                  <a:spcPct val="0"/>
                </a:spcBef>
              </a:pPr>
              <a:r>
                <a:rPr lang="en-US" b="true" sz="2422" spc="-164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MOBILE APP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512113" y="9431587"/>
            <a:ext cx="198983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138923" y="1281066"/>
            <a:ext cx="14010154" cy="1040669"/>
            <a:chOff x="0" y="0"/>
            <a:chExt cx="18680205" cy="138755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03256" y="133350"/>
              <a:ext cx="7740767" cy="1254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8"/>
                </a:lnSpc>
              </a:pPr>
              <a:r>
                <a:rPr lang="en-US" sz="6877">
                  <a:solidFill>
                    <a:srgbClr val="C6D8F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HARDWARE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3350"/>
              <a:ext cx="18680205" cy="1254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8"/>
                </a:lnSpc>
              </a:pPr>
              <a:r>
                <a:rPr lang="en-US" sz="6877">
                  <a:solidFill>
                    <a:srgbClr val="023A8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HARDWARE ARCHITECTURE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776758" y="4243123"/>
            <a:ext cx="3362517" cy="3560666"/>
          </a:xfrm>
          <a:custGeom>
            <a:avLst/>
            <a:gdLst/>
            <a:ahLst/>
            <a:cxnLst/>
            <a:rect r="r" b="b" t="t" l="l"/>
            <a:pathLst>
              <a:path h="3560666" w="3362517">
                <a:moveTo>
                  <a:pt x="0" y="0"/>
                </a:moveTo>
                <a:lnTo>
                  <a:pt x="3362518" y="0"/>
                </a:lnTo>
                <a:lnTo>
                  <a:pt x="3362518" y="3560666"/>
                </a:lnTo>
                <a:lnTo>
                  <a:pt x="0" y="356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24748" y="2886318"/>
            <a:ext cx="5840237" cy="6615490"/>
          </a:xfrm>
          <a:custGeom>
            <a:avLst/>
            <a:gdLst/>
            <a:ahLst/>
            <a:cxnLst/>
            <a:rect r="r" b="b" t="t" l="l"/>
            <a:pathLst>
              <a:path h="6615490" w="5840237">
                <a:moveTo>
                  <a:pt x="0" y="0"/>
                </a:moveTo>
                <a:lnTo>
                  <a:pt x="5840238" y="0"/>
                </a:lnTo>
                <a:lnTo>
                  <a:pt x="5840238" y="6615490"/>
                </a:lnTo>
                <a:lnTo>
                  <a:pt x="0" y="6615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86622" y="3776059"/>
            <a:ext cx="3434163" cy="4215324"/>
          </a:xfrm>
          <a:custGeom>
            <a:avLst/>
            <a:gdLst/>
            <a:ahLst/>
            <a:cxnLst/>
            <a:rect r="r" b="b" t="t" l="l"/>
            <a:pathLst>
              <a:path h="4215324" w="3434163">
                <a:moveTo>
                  <a:pt x="0" y="0"/>
                </a:moveTo>
                <a:lnTo>
                  <a:pt x="3434163" y="0"/>
                </a:lnTo>
                <a:lnTo>
                  <a:pt x="3434163" y="4215324"/>
                </a:lnTo>
                <a:lnTo>
                  <a:pt x="0" y="42153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347198" y="2312210"/>
            <a:ext cx="3710880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b="true" sz="1941" spc="506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MECHANICAL 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12113" y="9431587"/>
            <a:ext cx="219968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138923" y="871014"/>
            <a:ext cx="14010154" cy="1040669"/>
            <a:chOff x="0" y="0"/>
            <a:chExt cx="18680205" cy="138755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03256" y="133350"/>
              <a:ext cx="7740767" cy="1254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8"/>
                </a:lnSpc>
              </a:pPr>
              <a:r>
                <a:rPr lang="en-US" sz="6877">
                  <a:solidFill>
                    <a:srgbClr val="C6D8F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HARDWARE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3350"/>
              <a:ext cx="18680205" cy="1254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8"/>
                </a:lnSpc>
              </a:pPr>
              <a:r>
                <a:rPr lang="en-US" sz="6877">
                  <a:solidFill>
                    <a:srgbClr val="023A8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HARDWARE ARCHITECTURE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512113" y="9431587"/>
            <a:ext cx="219670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967615" y="1816433"/>
            <a:ext cx="10090746" cy="7869946"/>
            <a:chOff x="0" y="0"/>
            <a:chExt cx="13454327" cy="1049326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4927459" y="-57150"/>
              <a:ext cx="4485203" cy="433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616"/>
                </a:lnSpc>
                <a:spcBef>
                  <a:spcPct val="0"/>
                </a:spcBef>
              </a:pPr>
              <a:r>
                <a:rPr lang="en-US" b="true" sz="1868" spc="487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ELECTRICAL DESIGN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72090"/>
              <a:ext cx="13454327" cy="9821171"/>
            </a:xfrm>
            <a:custGeom>
              <a:avLst/>
              <a:gdLst/>
              <a:ahLst/>
              <a:cxnLst/>
              <a:rect r="r" b="b" t="t" l="l"/>
              <a:pathLst>
                <a:path h="9821171" w="13454327">
                  <a:moveTo>
                    <a:pt x="0" y="0"/>
                  </a:moveTo>
                  <a:lnTo>
                    <a:pt x="13454327" y="0"/>
                  </a:lnTo>
                  <a:lnTo>
                    <a:pt x="13454327" y="9821171"/>
                  </a:lnTo>
                  <a:lnTo>
                    <a:pt x="0" y="9821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24" r="0" b="-1493"/>
              </a:stretch>
            </a:blipFill>
          </p:spPr>
        </p:sp>
        <p:grpSp>
          <p:nvGrpSpPr>
            <p:cNvPr name="Group 15" id="15"/>
            <p:cNvGrpSpPr/>
            <p:nvPr/>
          </p:nvGrpSpPr>
          <p:grpSpPr>
            <a:xfrm rot="0">
              <a:off x="6497928" y="8180968"/>
              <a:ext cx="2481997" cy="369482"/>
              <a:chOff x="0" y="0"/>
              <a:chExt cx="458367" cy="6823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58367" cy="68235"/>
              </a:xfrm>
              <a:custGeom>
                <a:avLst/>
                <a:gdLst/>
                <a:ahLst/>
                <a:cxnLst/>
                <a:rect r="r" b="b" t="t" l="l"/>
                <a:pathLst>
                  <a:path h="68235" w="458367">
                    <a:moveTo>
                      <a:pt x="0" y="0"/>
                    </a:moveTo>
                    <a:lnTo>
                      <a:pt x="458367" y="0"/>
                    </a:lnTo>
                    <a:lnTo>
                      <a:pt x="458367" y="68235"/>
                    </a:lnTo>
                    <a:lnTo>
                      <a:pt x="0" y="6823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100000"/>
                    </a:srgbClr>
                  </a:gs>
                  <a:gs pos="100000">
                    <a:srgbClr val="300202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458367" cy="106335"/>
              </a:xfrm>
              <a:prstGeom prst="rect">
                <a:avLst/>
              </a:prstGeom>
            </p:spPr>
            <p:txBody>
              <a:bodyPr anchor="ctr" rtlCol="false" tIns="56450" lIns="56450" bIns="56450" rIns="56450"/>
              <a:lstStyle/>
              <a:p>
                <a:pPr algn="ctr">
                  <a:lnSpc>
                    <a:spcPts val="201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624087" y="8155077"/>
              <a:ext cx="2229679" cy="37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46"/>
                </a:lnSpc>
                <a:spcBef>
                  <a:spcPct val="0"/>
                </a:spcBef>
              </a:pPr>
              <a:r>
                <a:rPr lang="en-US" sz="160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12 v Battery Pack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89092" y="2420350"/>
              <a:ext cx="3160761" cy="369482"/>
              <a:chOff x="0" y="0"/>
              <a:chExt cx="583719" cy="6823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83719" cy="68235"/>
              </a:xfrm>
              <a:custGeom>
                <a:avLst/>
                <a:gdLst/>
                <a:ahLst/>
                <a:cxnLst/>
                <a:rect r="r" b="b" t="t" l="l"/>
                <a:pathLst>
                  <a:path h="68235" w="583719">
                    <a:moveTo>
                      <a:pt x="0" y="0"/>
                    </a:moveTo>
                    <a:lnTo>
                      <a:pt x="583719" y="0"/>
                    </a:lnTo>
                    <a:lnTo>
                      <a:pt x="583719" y="68235"/>
                    </a:lnTo>
                    <a:lnTo>
                      <a:pt x="0" y="6823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100000"/>
                    </a:srgbClr>
                  </a:gs>
                  <a:gs pos="100000">
                    <a:srgbClr val="300202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583719" cy="106335"/>
              </a:xfrm>
              <a:prstGeom prst="rect">
                <a:avLst/>
              </a:prstGeom>
            </p:spPr>
            <p:txBody>
              <a:bodyPr anchor="ctr" rtlCol="false" tIns="56450" lIns="56450" bIns="56450" rIns="56450"/>
              <a:lstStyle/>
              <a:p>
                <a:pPr algn="ctr">
                  <a:lnSpc>
                    <a:spcPts val="201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24139" y="2394459"/>
              <a:ext cx="2890667" cy="37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246"/>
                </a:lnSpc>
                <a:spcBef>
                  <a:spcPct val="0"/>
                </a:spcBef>
              </a:pPr>
              <a:r>
                <a:rPr lang="en-US" sz="160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Audio/Buzzer Module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6830019" y="2294307"/>
              <a:ext cx="2023526" cy="369482"/>
              <a:chOff x="0" y="0"/>
              <a:chExt cx="373698" cy="6823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73698" cy="68235"/>
              </a:xfrm>
              <a:custGeom>
                <a:avLst/>
                <a:gdLst/>
                <a:ahLst/>
                <a:cxnLst/>
                <a:rect r="r" b="b" t="t" l="l"/>
                <a:pathLst>
                  <a:path h="68235" w="373698">
                    <a:moveTo>
                      <a:pt x="0" y="0"/>
                    </a:moveTo>
                    <a:lnTo>
                      <a:pt x="373698" y="0"/>
                    </a:lnTo>
                    <a:lnTo>
                      <a:pt x="373698" y="68235"/>
                    </a:lnTo>
                    <a:lnTo>
                      <a:pt x="0" y="6823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100000"/>
                    </a:srgbClr>
                  </a:gs>
                  <a:gs pos="100000">
                    <a:srgbClr val="300202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373698" cy="106335"/>
              </a:xfrm>
              <a:prstGeom prst="rect">
                <a:avLst/>
              </a:prstGeom>
            </p:spPr>
            <p:txBody>
              <a:bodyPr anchor="ctr" rtlCol="false" tIns="56450" lIns="56450" bIns="56450" rIns="56450"/>
              <a:lstStyle/>
              <a:p>
                <a:pPr algn="ctr">
                  <a:lnSpc>
                    <a:spcPts val="201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932874" y="2268416"/>
              <a:ext cx="1817815" cy="37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6"/>
                </a:lnSpc>
                <a:spcBef>
                  <a:spcPct val="0"/>
                </a:spcBef>
              </a:pPr>
              <a:r>
                <a:rPr lang="en-US" sz="160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LED Indicator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5087802" y="4162563"/>
              <a:ext cx="1020730" cy="369482"/>
              <a:chOff x="0" y="0"/>
              <a:chExt cx="188505" cy="6823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8505" cy="68235"/>
              </a:xfrm>
              <a:custGeom>
                <a:avLst/>
                <a:gdLst/>
                <a:ahLst/>
                <a:cxnLst/>
                <a:rect r="r" b="b" t="t" l="l"/>
                <a:pathLst>
                  <a:path h="68235" w="188505">
                    <a:moveTo>
                      <a:pt x="0" y="0"/>
                    </a:moveTo>
                    <a:lnTo>
                      <a:pt x="188505" y="0"/>
                    </a:lnTo>
                    <a:lnTo>
                      <a:pt x="188505" y="68235"/>
                    </a:lnTo>
                    <a:lnTo>
                      <a:pt x="0" y="6823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100000"/>
                    </a:srgbClr>
                  </a:gs>
                  <a:gs pos="100000">
                    <a:srgbClr val="300202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88505" cy="106335"/>
              </a:xfrm>
              <a:prstGeom prst="rect">
                <a:avLst/>
              </a:prstGeom>
            </p:spPr>
            <p:txBody>
              <a:bodyPr anchor="ctr" rtlCol="false" tIns="56450" lIns="56450" bIns="56450" rIns="56450"/>
              <a:lstStyle/>
              <a:p>
                <a:pPr algn="ctr">
                  <a:lnSpc>
                    <a:spcPts val="201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4689259" y="4136671"/>
              <a:ext cx="1817815" cy="37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6"/>
                </a:lnSpc>
                <a:spcBef>
                  <a:spcPct val="0"/>
                </a:spcBef>
              </a:pPr>
              <a:r>
                <a:rPr lang="en-US" sz="160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OLED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6727164" y="905464"/>
              <a:ext cx="2023526" cy="369482"/>
              <a:chOff x="0" y="0"/>
              <a:chExt cx="373698" cy="6823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373698" cy="68235"/>
              </a:xfrm>
              <a:custGeom>
                <a:avLst/>
                <a:gdLst/>
                <a:ahLst/>
                <a:cxnLst/>
                <a:rect r="r" b="b" t="t" l="l"/>
                <a:pathLst>
                  <a:path h="68235" w="373698">
                    <a:moveTo>
                      <a:pt x="0" y="0"/>
                    </a:moveTo>
                    <a:lnTo>
                      <a:pt x="373698" y="0"/>
                    </a:lnTo>
                    <a:lnTo>
                      <a:pt x="373698" y="68235"/>
                    </a:lnTo>
                    <a:lnTo>
                      <a:pt x="0" y="6823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100000"/>
                    </a:srgbClr>
                  </a:gs>
                  <a:gs pos="100000">
                    <a:srgbClr val="300202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373698" cy="106335"/>
              </a:xfrm>
              <a:prstGeom prst="rect">
                <a:avLst/>
              </a:prstGeom>
            </p:spPr>
            <p:txBody>
              <a:bodyPr anchor="ctr" rtlCol="false" tIns="56450" lIns="56450" bIns="56450" rIns="56450"/>
              <a:lstStyle/>
              <a:p>
                <a:pPr algn="ctr">
                  <a:lnSpc>
                    <a:spcPts val="201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6830019" y="879573"/>
              <a:ext cx="1817815" cy="373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6"/>
                </a:lnSpc>
                <a:spcBef>
                  <a:spcPct val="0"/>
                </a:spcBef>
              </a:pPr>
              <a:r>
                <a:rPr lang="en-US" sz="160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GPS Module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9862987" y="9972309"/>
              <a:ext cx="3393431" cy="435010"/>
              <a:chOff x="0" y="0"/>
              <a:chExt cx="626688" cy="8033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26688" cy="80336"/>
              </a:xfrm>
              <a:custGeom>
                <a:avLst/>
                <a:gdLst/>
                <a:ahLst/>
                <a:cxnLst/>
                <a:rect r="r" b="b" t="t" l="l"/>
                <a:pathLst>
                  <a:path h="80336" w="626688">
                    <a:moveTo>
                      <a:pt x="0" y="0"/>
                    </a:moveTo>
                    <a:lnTo>
                      <a:pt x="626688" y="0"/>
                    </a:lnTo>
                    <a:lnTo>
                      <a:pt x="626688" y="80336"/>
                    </a:lnTo>
                    <a:lnTo>
                      <a:pt x="0" y="8033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100000"/>
                    </a:srgbClr>
                  </a:gs>
                  <a:gs pos="100000">
                    <a:srgbClr val="300202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626688" cy="118436"/>
              </a:xfrm>
              <a:prstGeom prst="rect">
                <a:avLst/>
              </a:prstGeom>
            </p:spPr>
            <p:txBody>
              <a:bodyPr anchor="ctr" rtlCol="false" tIns="56450" lIns="56450" bIns="56450" rIns="56450"/>
              <a:lstStyle/>
              <a:p>
                <a:pPr algn="ctr">
                  <a:lnSpc>
                    <a:spcPts val="201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0401016" y="9921251"/>
              <a:ext cx="2317373" cy="456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10"/>
                </a:lnSpc>
              </a:pPr>
              <a:r>
                <a:rPr lang="en-US" sz="2079">
                  <a:solidFill>
                    <a:srgbClr val="FEFEFE"/>
                  </a:solidFill>
                  <a:latin typeface="Open Sans"/>
                  <a:ea typeface="Open Sans"/>
                  <a:cs typeface="Open Sans"/>
                  <a:sym typeface="Open Sans"/>
                </a:rPr>
                <a:t>vaccum pump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4566675" y="9586577"/>
              <a:ext cx="1931253" cy="307495"/>
              <a:chOff x="0" y="0"/>
              <a:chExt cx="356658" cy="5678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56658" cy="56787"/>
              </a:xfrm>
              <a:custGeom>
                <a:avLst/>
                <a:gdLst/>
                <a:ahLst/>
                <a:cxnLst/>
                <a:rect r="r" b="b" t="t" l="l"/>
                <a:pathLst>
                  <a:path h="56787" w="356658">
                    <a:moveTo>
                      <a:pt x="0" y="0"/>
                    </a:moveTo>
                    <a:lnTo>
                      <a:pt x="356658" y="0"/>
                    </a:lnTo>
                    <a:lnTo>
                      <a:pt x="356658" y="56787"/>
                    </a:lnTo>
                    <a:lnTo>
                      <a:pt x="0" y="56787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100000"/>
                    </a:srgbClr>
                  </a:gs>
                  <a:gs pos="100000">
                    <a:srgbClr val="300202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356658" cy="94887"/>
              </a:xfrm>
              <a:prstGeom prst="rect">
                <a:avLst/>
              </a:prstGeom>
            </p:spPr>
            <p:txBody>
              <a:bodyPr anchor="ctr" rtlCol="false" tIns="56450" lIns="56450" bIns="56450" rIns="56450"/>
              <a:lstStyle/>
              <a:p>
                <a:pPr algn="ctr">
                  <a:lnSpc>
                    <a:spcPts val="201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4848006" y="9570944"/>
              <a:ext cx="1368590" cy="310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57"/>
                </a:lnSpc>
              </a:pPr>
              <a:r>
                <a:rPr lang="en-US" sz="1397">
                  <a:solidFill>
                    <a:srgbClr val="FEFEFE"/>
                  </a:solidFill>
                  <a:latin typeface="Open Sans"/>
                  <a:ea typeface="Open Sans"/>
                  <a:cs typeface="Open Sans"/>
                  <a:sym typeface="Open Sans"/>
                </a:rPr>
                <a:t>Servo motor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4663" y="2807031"/>
            <a:ext cx="10225123" cy="6700756"/>
          </a:xfrm>
          <a:custGeom>
            <a:avLst/>
            <a:gdLst/>
            <a:ahLst/>
            <a:cxnLst/>
            <a:rect r="r" b="b" t="t" l="l"/>
            <a:pathLst>
              <a:path h="6700756" w="10225123">
                <a:moveTo>
                  <a:pt x="0" y="0"/>
                </a:moveTo>
                <a:lnTo>
                  <a:pt x="10225123" y="0"/>
                </a:lnTo>
                <a:lnTo>
                  <a:pt x="10225123" y="6700756"/>
                </a:lnTo>
                <a:lnTo>
                  <a:pt x="0" y="6700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006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38923" y="1281066"/>
            <a:ext cx="14010154" cy="1040669"/>
            <a:chOff x="0" y="0"/>
            <a:chExt cx="18680205" cy="138755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880642" y="133350"/>
              <a:ext cx="7464772" cy="1254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8"/>
                </a:lnSpc>
              </a:pPr>
              <a:r>
                <a:rPr lang="en-US" sz="6877">
                  <a:solidFill>
                    <a:srgbClr val="C6D8F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SOFTWARE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3350"/>
              <a:ext cx="18680205" cy="1254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8"/>
                </a:lnSpc>
              </a:pPr>
              <a:r>
                <a:rPr lang="en-US" sz="6877">
                  <a:solidFill>
                    <a:srgbClr val="023A8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SOFTWARE ARCHITECTURE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402711" y="2264585"/>
            <a:ext cx="3482578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b="true" sz="1941" spc="506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WORKFLOW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26388" y="9450637"/>
            <a:ext cx="362396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138923" y="1281066"/>
            <a:ext cx="14010154" cy="1040669"/>
            <a:chOff x="0" y="0"/>
            <a:chExt cx="18680205" cy="138755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880642" y="133350"/>
              <a:ext cx="7464772" cy="1254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8"/>
                </a:lnSpc>
              </a:pPr>
              <a:r>
                <a:rPr lang="en-US" sz="6877">
                  <a:solidFill>
                    <a:srgbClr val="C6D8FB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SOFTWARE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3350"/>
              <a:ext cx="18680205" cy="1254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08"/>
                </a:lnSpc>
              </a:pPr>
              <a:r>
                <a:rPr lang="en-US" sz="6877">
                  <a:solidFill>
                    <a:srgbClr val="023A8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SOFTWARE ARCHITECTURE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007126" y="2245535"/>
            <a:ext cx="4273748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b="true" sz="1941" spc="506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TOOL</a:t>
            </a:r>
            <a:r>
              <a:rPr lang="en-US" b="true" sz="1941" spc="506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S &amp; TECHNOLOGIES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566593" y="4513225"/>
            <a:ext cx="2352904" cy="1999952"/>
          </a:xfrm>
          <a:custGeom>
            <a:avLst/>
            <a:gdLst/>
            <a:ahLst/>
            <a:cxnLst/>
            <a:rect r="r" b="b" t="t" l="l"/>
            <a:pathLst>
              <a:path h="1999952" w="2352904">
                <a:moveTo>
                  <a:pt x="0" y="0"/>
                </a:moveTo>
                <a:lnTo>
                  <a:pt x="2352904" y="0"/>
                </a:lnTo>
                <a:lnTo>
                  <a:pt x="2352904" y="1999952"/>
                </a:lnTo>
                <a:lnTo>
                  <a:pt x="0" y="1999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0646" t="0" r="-60326" b="-46233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527447" y="4337708"/>
            <a:ext cx="2602336" cy="2350986"/>
          </a:xfrm>
          <a:custGeom>
            <a:avLst/>
            <a:gdLst/>
            <a:ahLst/>
            <a:cxnLst/>
            <a:rect r="r" b="b" t="t" l="l"/>
            <a:pathLst>
              <a:path h="2350986" w="2602336">
                <a:moveTo>
                  <a:pt x="0" y="0"/>
                </a:moveTo>
                <a:lnTo>
                  <a:pt x="2602335" y="0"/>
                </a:lnTo>
                <a:lnTo>
                  <a:pt x="2602335" y="2350986"/>
                </a:lnTo>
                <a:lnTo>
                  <a:pt x="0" y="23509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44" r="-167331" b="-104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196707" y="4210216"/>
            <a:ext cx="2302961" cy="2302961"/>
          </a:xfrm>
          <a:custGeom>
            <a:avLst/>
            <a:gdLst/>
            <a:ahLst/>
            <a:cxnLst/>
            <a:rect r="r" b="b" t="t" l="l"/>
            <a:pathLst>
              <a:path h="2302961" w="2302961">
                <a:moveTo>
                  <a:pt x="0" y="0"/>
                </a:moveTo>
                <a:lnTo>
                  <a:pt x="2302961" y="0"/>
                </a:lnTo>
                <a:lnTo>
                  <a:pt x="2302961" y="2302961"/>
                </a:lnTo>
                <a:lnTo>
                  <a:pt x="0" y="2302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68503" y="4432298"/>
            <a:ext cx="2092019" cy="2080879"/>
          </a:xfrm>
          <a:custGeom>
            <a:avLst/>
            <a:gdLst/>
            <a:ahLst/>
            <a:cxnLst/>
            <a:rect r="r" b="b" t="t" l="l"/>
            <a:pathLst>
              <a:path h="2080879" w="2092019">
                <a:moveTo>
                  <a:pt x="0" y="0"/>
                </a:moveTo>
                <a:lnTo>
                  <a:pt x="2092019" y="0"/>
                </a:lnTo>
                <a:lnTo>
                  <a:pt x="2092019" y="2080879"/>
                </a:lnTo>
                <a:lnTo>
                  <a:pt x="0" y="20808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4287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19187" y="7010061"/>
            <a:ext cx="1390650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FLUTTER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85404" y="7010061"/>
            <a:ext cx="2219474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ARDUINO IDE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65947" y="7010061"/>
            <a:ext cx="1564481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FIREBASE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47943" y="7010061"/>
            <a:ext cx="1390204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GIT HUB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512113" y="9431587"/>
            <a:ext cx="286494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20000">
              <a:srgbClr val="220239">
                <a:alpha val="100000"/>
              </a:srgbClr>
            </a:gs>
            <a:gs pos="40000">
              <a:srgbClr val="490326">
                <a:alpha val="100000"/>
              </a:srgbClr>
            </a:gs>
            <a:gs pos="60000">
              <a:srgbClr val="660505">
                <a:alpha val="100000"/>
              </a:srgbClr>
            </a:gs>
            <a:gs pos="80000">
              <a:srgbClr val="660505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-290390"/>
            <a:ext cx="25933100" cy="10867781"/>
            <a:chOff x="0" y="0"/>
            <a:chExt cx="34577466" cy="144903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241334" y="387187"/>
              <a:ext cx="20336133" cy="14103187"/>
            </a:xfrm>
            <a:custGeom>
              <a:avLst/>
              <a:gdLst/>
              <a:ahLst/>
              <a:cxnLst/>
              <a:rect r="r" b="b" t="t" l="l"/>
              <a:pathLst>
                <a:path h="14103187" w="20336133">
                  <a:moveTo>
                    <a:pt x="0" y="0"/>
                  </a:moveTo>
                  <a:lnTo>
                    <a:pt x="20336132" y="0"/>
                  </a:lnTo>
                  <a:lnTo>
                    <a:pt x="20336132" y="14103188"/>
                  </a:lnTo>
                  <a:lnTo>
                    <a:pt x="0" y="14103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904" t="-13571" r="0" b="-16317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728740" y="1807253"/>
              <a:ext cx="14103187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4103187">
                  <a:moveTo>
                    <a:pt x="0" y="0"/>
                  </a:moveTo>
                  <a:lnTo>
                    <a:pt x="14103187" y="0"/>
                  </a:lnTo>
                  <a:lnTo>
                    <a:pt x="1410318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422" r="0" b="-84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1922378" y="1565194"/>
              <a:ext cx="14103187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4103187">
                  <a:moveTo>
                    <a:pt x="0" y="0"/>
                  </a:moveTo>
                  <a:lnTo>
                    <a:pt x="14103187" y="0"/>
                  </a:lnTo>
                  <a:lnTo>
                    <a:pt x="1410318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3000"/>
              </a:blip>
              <a:stretch>
                <a:fillRect l="0" t="-8422" r="0" b="-8422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06845" y="794728"/>
              <a:ext cx="11810555" cy="12926089"/>
            </a:xfrm>
            <a:custGeom>
              <a:avLst/>
              <a:gdLst/>
              <a:ahLst/>
              <a:cxnLst/>
              <a:rect r="r" b="b" t="t" l="l"/>
              <a:pathLst>
                <a:path h="12926089" w="11810555">
                  <a:moveTo>
                    <a:pt x="0" y="0"/>
                  </a:moveTo>
                  <a:lnTo>
                    <a:pt x="11810555" y="0"/>
                  </a:lnTo>
                  <a:lnTo>
                    <a:pt x="11810555" y="12926088"/>
                  </a:lnTo>
                  <a:lnTo>
                    <a:pt x="0" y="12926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-8255" t="0" r="-1189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12217400" y="794728"/>
              <a:ext cx="11822446" cy="12959750"/>
            </a:xfrm>
            <a:custGeom>
              <a:avLst/>
              <a:gdLst/>
              <a:ahLst/>
              <a:cxnLst/>
              <a:rect r="r" b="b" t="t" l="l"/>
              <a:pathLst>
                <a:path h="12959750" w="11822446">
                  <a:moveTo>
                    <a:pt x="11822446" y="0"/>
                  </a:moveTo>
                  <a:lnTo>
                    <a:pt x="0" y="0"/>
                  </a:lnTo>
                  <a:lnTo>
                    <a:pt x="0" y="12959750"/>
                  </a:lnTo>
                  <a:lnTo>
                    <a:pt x="11822446" y="12959750"/>
                  </a:lnTo>
                  <a:lnTo>
                    <a:pt x="11822446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-8392" t="0" r="-1227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2054520" y="1807253"/>
              <a:ext cx="1299785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2997850">
                  <a:moveTo>
                    <a:pt x="0" y="0"/>
                  </a:moveTo>
                  <a:lnTo>
                    <a:pt x="12997851" y="0"/>
                  </a:lnTo>
                  <a:lnTo>
                    <a:pt x="1299785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7000"/>
              </a:blip>
              <a:stretch>
                <a:fillRect l="0" t="-4395" r="-1024" b="-4395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399772"/>
              <a:ext cx="24384000" cy="13716000"/>
              <a:chOff x="0" y="0"/>
              <a:chExt cx="481659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816592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816593" cy="27474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50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3162887" y="1469112"/>
            <a:ext cx="11962226" cy="6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535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MARKET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11467" y="2264585"/>
            <a:ext cx="2626965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b="true" sz="1941" spc="50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NEEDS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756098" y="2924043"/>
            <a:ext cx="14079091" cy="6492415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7512113" y="9431587"/>
            <a:ext cx="349448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20000">
              <a:srgbClr val="220239">
                <a:alpha val="100000"/>
              </a:srgbClr>
            </a:gs>
            <a:gs pos="40000">
              <a:srgbClr val="490326">
                <a:alpha val="100000"/>
              </a:srgbClr>
            </a:gs>
            <a:gs pos="60000">
              <a:srgbClr val="660505">
                <a:alpha val="100000"/>
              </a:srgbClr>
            </a:gs>
            <a:gs pos="80000">
              <a:srgbClr val="660505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-290390"/>
            <a:ext cx="25933100" cy="10867781"/>
            <a:chOff x="0" y="0"/>
            <a:chExt cx="34577466" cy="144903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241334" y="387187"/>
              <a:ext cx="20336133" cy="14103187"/>
            </a:xfrm>
            <a:custGeom>
              <a:avLst/>
              <a:gdLst/>
              <a:ahLst/>
              <a:cxnLst/>
              <a:rect r="r" b="b" t="t" l="l"/>
              <a:pathLst>
                <a:path h="14103187" w="20336133">
                  <a:moveTo>
                    <a:pt x="0" y="0"/>
                  </a:moveTo>
                  <a:lnTo>
                    <a:pt x="20336132" y="0"/>
                  </a:lnTo>
                  <a:lnTo>
                    <a:pt x="20336132" y="14103188"/>
                  </a:lnTo>
                  <a:lnTo>
                    <a:pt x="0" y="14103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904" t="-13571" r="0" b="-16317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728740" y="1807253"/>
              <a:ext cx="14103187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4103187">
                  <a:moveTo>
                    <a:pt x="0" y="0"/>
                  </a:moveTo>
                  <a:lnTo>
                    <a:pt x="14103187" y="0"/>
                  </a:lnTo>
                  <a:lnTo>
                    <a:pt x="1410318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422" r="0" b="-84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1922378" y="1565194"/>
              <a:ext cx="14103187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4103187">
                  <a:moveTo>
                    <a:pt x="0" y="0"/>
                  </a:moveTo>
                  <a:lnTo>
                    <a:pt x="14103187" y="0"/>
                  </a:lnTo>
                  <a:lnTo>
                    <a:pt x="1410318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3000"/>
              </a:blip>
              <a:stretch>
                <a:fillRect l="0" t="-8422" r="0" b="-8422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06845" y="794728"/>
              <a:ext cx="11810555" cy="12926089"/>
            </a:xfrm>
            <a:custGeom>
              <a:avLst/>
              <a:gdLst/>
              <a:ahLst/>
              <a:cxnLst/>
              <a:rect r="r" b="b" t="t" l="l"/>
              <a:pathLst>
                <a:path h="12926089" w="11810555">
                  <a:moveTo>
                    <a:pt x="0" y="0"/>
                  </a:moveTo>
                  <a:lnTo>
                    <a:pt x="11810555" y="0"/>
                  </a:lnTo>
                  <a:lnTo>
                    <a:pt x="11810555" y="12926088"/>
                  </a:lnTo>
                  <a:lnTo>
                    <a:pt x="0" y="12926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-8255" t="0" r="-1189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12217400" y="794728"/>
              <a:ext cx="11822446" cy="12959750"/>
            </a:xfrm>
            <a:custGeom>
              <a:avLst/>
              <a:gdLst/>
              <a:ahLst/>
              <a:cxnLst/>
              <a:rect r="r" b="b" t="t" l="l"/>
              <a:pathLst>
                <a:path h="12959750" w="11822446">
                  <a:moveTo>
                    <a:pt x="11822446" y="0"/>
                  </a:moveTo>
                  <a:lnTo>
                    <a:pt x="0" y="0"/>
                  </a:lnTo>
                  <a:lnTo>
                    <a:pt x="0" y="12959750"/>
                  </a:lnTo>
                  <a:lnTo>
                    <a:pt x="11822446" y="12959750"/>
                  </a:lnTo>
                  <a:lnTo>
                    <a:pt x="11822446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-8392" t="0" r="-1227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2054520" y="1807253"/>
              <a:ext cx="1299785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2997850">
                  <a:moveTo>
                    <a:pt x="0" y="0"/>
                  </a:moveTo>
                  <a:lnTo>
                    <a:pt x="12997851" y="0"/>
                  </a:lnTo>
                  <a:lnTo>
                    <a:pt x="1299785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7000"/>
              </a:blip>
              <a:stretch>
                <a:fillRect l="0" t="-4395" r="-1024" b="-4395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399772"/>
              <a:ext cx="24384000" cy="13716000"/>
              <a:chOff x="0" y="0"/>
              <a:chExt cx="481659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816592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816593" cy="27474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50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3162887" y="1469112"/>
            <a:ext cx="11962226" cy="6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535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MARKET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51601" y="2264585"/>
            <a:ext cx="3384798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b="true" sz="1941" spc="50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1941" spc="50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ARGET AUDIANCE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62599" y="1647036"/>
            <a:ext cx="12217088" cy="8629354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7512113" y="9431587"/>
            <a:ext cx="352818" cy="35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20000">
              <a:srgbClr val="220239">
                <a:alpha val="100000"/>
              </a:srgbClr>
            </a:gs>
            <a:gs pos="40000">
              <a:srgbClr val="490326">
                <a:alpha val="100000"/>
              </a:srgbClr>
            </a:gs>
            <a:gs pos="60000">
              <a:srgbClr val="660505">
                <a:alpha val="100000"/>
              </a:srgbClr>
            </a:gs>
            <a:gs pos="80000">
              <a:srgbClr val="660505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-290390"/>
            <a:ext cx="25933100" cy="10867781"/>
            <a:chOff x="0" y="0"/>
            <a:chExt cx="34577466" cy="144903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241334" y="387187"/>
              <a:ext cx="20336133" cy="14103187"/>
            </a:xfrm>
            <a:custGeom>
              <a:avLst/>
              <a:gdLst/>
              <a:ahLst/>
              <a:cxnLst/>
              <a:rect r="r" b="b" t="t" l="l"/>
              <a:pathLst>
                <a:path h="14103187" w="20336133">
                  <a:moveTo>
                    <a:pt x="0" y="0"/>
                  </a:moveTo>
                  <a:lnTo>
                    <a:pt x="20336132" y="0"/>
                  </a:lnTo>
                  <a:lnTo>
                    <a:pt x="20336132" y="14103188"/>
                  </a:lnTo>
                  <a:lnTo>
                    <a:pt x="0" y="14103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904" t="-13571" r="0" b="-16317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728740" y="1807253"/>
              <a:ext cx="14103187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4103187">
                  <a:moveTo>
                    <a:pt x="0" y="0"/>
                  </a:moveTo>
                  <a:lnTo>
                    <a:pt x="14103187" y="0"/>
                  </a:lnTo>
                  <a:lnTo>
                    <a:pt x="1410318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422" r="0" b="-84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1922378" y="1565194"/>
              <a:ext cx="14103187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4103187">
                  <a:moveTo>
                    <a:pt x="0" y="0"/>
                  </a:moveTo>
                  <a:lnTo>
                    <a:pt x="14103187" y="0"/>
                  </a:lnTo>
                  <a:lnTo>
                    <a:pt x="1410318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3000"/>
              </a:blip>
              <a:stretch>
                <a:fillRect l="0" t="-8422" r="0" b="-8422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06845" y="794728"/>
              <a:ext cx="11810555" cy="12926089"/>
            </a:xfrm>
            <a:custGeom>
              <a:avLst/>
              <a:gdLst/>
              <a:ahLst/>
              <a:cxnLst/>
              <a:rect r="r" b="b" t="t" l="l"/>
              <a:pathLst>
                <a:path h="12926089" w="11810555">
                  <a:moveTo>
                    <a:pt x="0" y="0"/>
                  </a:moveTo>
                  <a:lnTo>
                    <a:pt x="11810555" y="0"/>
                  </a:lnTo>
                  <a:lnTo>
                    <a:pt x="11810555" y="12926088"/>
                  </a:lnTo>
                  <a:lnTo>
                    <a:pt x="0" y="12926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-8255" t="0" r="-1189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12217400" y="794728"/>
              <a:ext cx="11822446" cy="12959750"/>
            </a:xfrm>
            <a:custGeom>
              <a:avLst/>
              <a:gdLst/>
              <a:ahLst/>
              <a:cxnLst/>
              <a:rect r="r" b="b" t="t" l="l"/>
              <a:pathLst>
                <a:path h="12959750" w="11822446">
                  <a:moveTo>
                    <a:pt x="11822446" y="0"/>
                  </a:moveTo>
                  <a:lnTo>
                    <a:pt x="0" y="0"/>
                  </a:lnTo>
                  <a:lnTo>
                    <a:pt x="0" y="12959750"/>
                  </a:lnTo>
                  <a:lnTo>
                    <a:pt x="11822446" y="12959750"/>
                  </a:lnTo>
                  <a:lnTo>
                    <a:pt x="11822446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-8392" t="0" r="-1227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2054520" y="1807253"/>
              <a:ext cx="1299785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2997850">
                  <a:moveTo>
                    <a:pt x="0" y="0"/>
                  </a:moveTo>
                  <a:lnTo>
                    <a:pt x="12997851" y="0"/>
                  </a:lnTo>
                  <a:lnTo>
                    <a:pt x="1299785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7000"/>
              </a:blip>
              <a:stretch>
                <a:fillRect l="0" t="-4395" r="-1024" b="-4395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399772"/>
              <a:ext cx="24384000" cy="13716000"/>
              <a:chOff x="0" y="0"/>
              <a:chExt cx="481659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816592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816593" cy="27474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50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251717" y="4632146"/>
            <a:ext cx="3409027" cy="1022708"/>
          </a:xfrm>
          <a:custGeom>
            <a:avLst/>
            <a:gdLst/>
            <a:ahLst/>
            <a:cxnLst/>
            <a:rect r="r" b="b" t="t" l="l"/>
            <a:pathLst>
              <a:path h="1022708" w="3409027">
                <a:moveTo>
                  <a:pt x="0" y="0"/>
                </a:moveTo>
                <a:lnTo>
                  <a:pt x="3409027" y="0"/>
                </a:lnTo>
                <a:lnTo>
                  <a:pt x="3409027" y="1022708"/>
                </a:lnTo>
                <a:lnTo>
                  <a:pt x="0" y="1022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39679" y="4712204"/>
            <a:ext cx="4399237" cy="1164144"/>
          </a:xfrm>
          <a:custGeom>
            <a:avLst/>
            <a:gdLst/>
            <a:ahLst/>
            <a:cxnLst/>
            <a:rect r="r" b="b" t="t" l="l"/>
            <a:pathLst>
              <a:path h="1164144" w="4399237">
                <a:moveTo>
                  <a:pt x="0" y="0"/>
                </a:moveTo>
                <a:lnTo>
                  <a:pt x="4399237" y="0"/>
                </a:lnTo>
                <a:lnTo>
                  <a:pt x="4399237" y="1164144"/>
                </a:lnTo>
                <a:lnTo>
                  <a:pt x="0" y="11641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162887" y="7243926"/>
            <a:ext cx="5505679" cy="2235352"/>
            <a:chOff x="0" y="0"/>
            <a:chExt cx="7340905" cy="29804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163249" y="0"/>
              <a:ext cx="4177655" cy="2980469"/>
            </a:xfrm>
            <a:custGeom>
              <a:avLst/>
              <a:gdLst/>
              <a:ahLst/>
              <a:cxnLst/>
              <a:rect r="r" b="b" t="t" l="l"/>
              <a:pathLst>
                <a:path h="2980469" w="4177655">
                  <a:moveTo>
                    <a:pt x="0" y="0"/>
                  </a:moveTo>
                  <a:lnTo>
                    <a:pt x="4177656" y="0"/>
                  </a:lnTo>
                  <a:lnTo>
                    <a:pt x="4177656" y="2980469"/>
                  </a:lnTo>
                  <a:lnTo>
                    <a:pt x="0" y="2980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081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298278"/>
              <a:ext cx="3455753" cy="2420190"/>
            </a:xfrm>
            <a:custGeom>
              <a:avLst/>
              <a:gdLst/>
              <a:ahLst/>
              <a:cxnLst/>
              <a:rect r="r" b="b" t="t" l="l"/>
              <a:pathLst>
                <a:path h="2420190" w="3455753">
                  <a:moveTo>
                    <a:pt x="0" y="0"/>
                  </a:moveTo>
                  <a:lnTo>
                    <a:pt x="3455753" y="0"/>
                  </a:lnTo>
                  <a:lnTo>
                    <a:pt x="3455753" y="2420191"/>
                  </a:lnTo>
                  <a:lnTo>
                    <a:pt x="0" y="2420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3166170" y="4309177"/>
            <a:ext cx="3717354" cy="1970197"/>
          </a:xfrm>
          <a:custGeom>
            <a:avLst/>
            <a:gdLst/>
            <a:ahLst/>
            <a:cxnLst/>
            <a:rect r="r" b="b" t="t" l="l"/>
            <a:pathLst>
              <a:path h="1970197" w="3717354">
                <a:moveTo>
                  <a:pt x="0" y="0"/>
                </a:moveTo>
                <a:lnTo>
                  <a:pt x="3717354" y="0"/>
                </a:lnTo>
                <a:lnTo>
                  <a:pt x="3717354" y="1970198"/>
                </a:lnTo>
                <a:lnTo>
                  <a:pt x="0" y="19701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162887" y="1469112"/>
            <a:ext cx="11962226" cy="6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535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MARKET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83524" y="2264585"/>
            <a:ext cx="4520952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b="true" sz="1941" spc="50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</a:t>
            </a:r>
            <a:r>
              <a:rPr lang="en-US" b="true" sz="1941" spc="50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MPETITIVE LANDSCAPE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89994" y="3624011"/>
            <a:ext cx="1221135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DIRECT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08721" y="6356192"/>
            <a:ext cx="1583680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FEFEFE"/>
                </a:solidFill>
                <a:latin typeface="Poppins"/>
                <a:ea typeface="Poppins"/>
                <a:cs typeface="Poppins"/>
                <a:sym typeface="Poppins"/>
              </a:rPr>
              <a:t>INDIRECT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12113" y="9431587"/>
            <a:ext cx="362649" cy="35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20000">
              <a:srgbClr val="220239">
                <a:alpha val="100000"/>
              </a:srgbClr>
            </a:gs>
            <a:gs pos="40000">
              <a:srgbClr val="490326">
                <a:alpha val="100000"/>
              </a:srgbClr>
            </a:gs>
            <a:gs pos="60000">
              <a:srgbClr val="660505">
                <a:alpha val="100000"/>
              </a:srgbClr>
            </a:gs>
            <a:gs pos="80000">
              <a:srgbClr val="660505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-290390"/>
            <a:ext cx="25904525" cy="10867781"/>
            <a:chOff x="0" y="0"/>
            <a:chExt cx="34539366" cy="144903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203234" y="387187"/>
              <a:ext cx="20336133" cy="14103187"/>
            </a:xfrm>
            <a:custGeom>
              <a:avLst/>
              <a:gdLst/>
              <a:ahLst/>
              <a:cxnLst/>
              <a:rect r="r" b="b" t="t" l="l"/>
              <a:pathLst>
                <a:path h="14103187" w="20336133">
                  <a:moveTo>
                    <a:pt x="0" y="0"/>
                  </a:moveTo>
                  <a:lnTo>
                    <a:pt x="20336132" y="0"/>
                  </a:lnTo>
                  <a:lnTo>
                    <a:pt x="20336132" y="14103188"/>
                  </a:lnTo>
                  <a:lnTo>
                    <a:pt x="0" y="14103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904" t="-13571" r="0" b="-16317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690640" y="1807253"/>
              <a:ext cx="14103187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4103187">
                  <a:moveTo>
                    <a:pt x="0" y="0"/>
                  </a:moveTo>
                  <a:lnTo>
                    <a:pt x="14103187" y="0"/>
                  </a:lnTo>
                  <a:lnTo>
                    <a:pt x="1410318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422" r="0" b="-842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1884278" y="1565194"/>
              <a:ext cx="14103187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4103187">
                  <a:moveTo>
                    <a:pt x="0" y="0"/>
                  </a:moveTo>
                  <a:lnTo>
                    <a:pt x="14103187" y="0"/>
                  </a:lnTo>
                  <a:lnTo>
                    <a:pt x="1410318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3000"/>
              </a:blip>
              <a:stretch>
                <a:fillRect l="0" t="-8422" r="0" b="-8422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68745" y="794728"/>
              <a:ext cx="11810555" cy="12926089"/>
            </a:xfrm>
            <a:custGeom>
              <a:avLst/>
              <a:gdLst/>
              <a:ahLst/>
              <a:cxnLst/>
              <a:rect r="r" b="b" t="t" l="l"/>
              <a:pathLst>
                <a:path h="12926089" w="11810555">
                  <a:moveTo>
                    <a:pt x="0" y="0"/>
                  </a:moveTo>
                  <a:lnTo>
                    <a:pt x="11810555" y="0"/>
                  </a:lnTo>
                  <a:lnTo>
                    <a:pt x="11810555" y="12926088"/>
                  </a:lnTo>
                  <a:lnTo>
                    <a:pt x="0" y="12926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-8255" t="0" r="-1189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false" rot="0">
              <a:off x="12179300" y="794728"/>
              <a:ext cx="11822446" cy="12959750"/>
            </a:xfrm>
            <a:custGeom>
              <a:avLst/>
              <a:gdLst/>
              <a:ahLst/>
              <a:cxnLst/>
              <a:rect r="r" b="b" t="t" l="l"/>
              <a:pathLst>
                <a:path h="12959750" w="11822446">
                  <a:moveTo>
                    <a:pt x="11822446" y="0"/>
                  </a:moveTo>
                  <a:lnTo>
                    <a:pt x="0" y="0"/>
                  </a:lnTo>
                  <a:lnTo>
                    <a:pt x="0" y="12959750"/>
                  </a:lnTo>
                  <a:lnTo>
                    <a:pt x="11822446" y="12959750"/>
                  </a:lnTo>
                  <a:lnTo>
                    <a:pt x="11822446" y="0"/>
                  </a:lnTo>
                  <a:close/>
                </a:path>
              </a:pathLst>
            </a:custGeom>
            <a:blipFill>
              <a:blip r:embed="rId4">
                <a:alphaModFix amt="30000"/>
              </a:blip>
              <a:stretch>
                <a:fillRect l="-8392" t="0" r="-1227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5400000">
              <a:off x="12016420" y="1807253"/>
              <a:ext cx="1299785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2997850">
                  <a:moveTo>
                    <a:pt x="0" y="0"/>
                  </a:moveTo>
                  <a:lnTo>
                    <a:pt x="12997851" y="0"/>
                  </a:lnTo>
                  <a:lnTo>
                    <a:pt x="12997851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7000"/>
              </a:blip>
              <a:stretch>
                <a:fillRect l="0" t="-4395" r="-1024" b="-4395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399772"/>
              <a:ext cx="24384000" cy="13716000"/>
              <a:chOff x="0" y="0"/>
              <a:chExt cx="481659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816592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816593" cy="27474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5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670448" y="2716588"/>
            <a:ext cx="16841665" cy="6753098"/>
            <a:chOff x="0" y="0"/>
            <a:chExt cx="4435665" cy="17785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5665" cy="1778594"/>
            </a:xfrm>
            <a:custGeom>
              <a:avLst/>
              <a:gdLst/>
              <a:ahLst/>
              <a:cxnLst/>
              <a:rect r="r" b="b" t="t" l="l"/>
              <a:pathLst>
                <a:path h="1778594" w="4435665">
                  <a:moveTo>
                    <a:pt x="0" y="0"/>
                  </a:moveTo>
                  <a:lnTo>
                    <a:pt x="4435665" y="0"/>
                  </a:lnTo>
                  <a:lnTo>
                    <a:pt x="4435665" y="1778594"/>
                  </a:lnTo>
                  <a:lnTo>
                    <a:pt x="0" y="1778594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435665" cy="1835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70448" y="2716588"/>
            <a:ext cx="16841665" cy="6772148"/>
          </a:xfrm>
          <a:custGeom>
            <a:avLst/>
            <a:gdLst/>
            <a:ahLst/>
            <a:cxnLst/>
            <a:rect r="r" b="b" t="t" l="l"/>
            <a:pathLst>
              <a:path h="6772148" w="16841665">
                <a:moveTo>
                  <a:pt x="0" y="0"/>
                </a:moveTo>
                <a:lnTo>
                  <a:pt x="16841665" y="0"/>
                </a:lnTo>
                <a:lnTo>
                  <a:pt x="16841665" y="6772149"/>
                </a:lnTo>
                <a:lnTo>
                  <a:pt x="0" y="67721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8000"/>
            </a:blip>
            <a:stretch>
              <a:fillRect l="-48560" t="-314564" r="-2195" b="-252759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01320" y="3285558"/>
            <a:ext cx="15598585" cy="2051551"/>
            <a:chOff x="0" y="0"/>
            <a:chExt cx="20798113" cy="27354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7895484" y="98226"/>
              <a:ext cx="1758213" cy="2192827"/>
            </a:xfrm>
            <a:custGeom>
              <a:avLst/>
              <a:gdLst/>
              <a:ahLst/>
              <a:cxnLst/>
              <a:rect r="r" b="b" t="t" l="l"/>
              <a:pathLst>
                <a:path h="2192827" w="1758213">
                  <a:moveTo>
                    <a:pt x="0" y="0"/>
                  </a:moveTo>
                  <a:lnTo>
                    <a:pt x="1758212" y="0"/>
                  </a:lnTo>
                  <a:lnTo>
                    <a:pt x="1758212" y="2192827"/>
                  </a:lnTo>
                  <a:lnTo>
                    <a:pt x="0" y="2192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42637" y="245248"/>
              <a:ext cx="3570777" cy="1751852"/>
            </a:xfrm>
            <a:custGeom>
              <a:avLst/>
              <a:gdLst/>
              <a:ahLst/>
              <a:cxnLst/>
              <a:rect r="r" b="b" t="t" l="l"/>
              <a:pathLst>
                <a:path h="1751852" w="3570777">
                  <a:moveTo>
                    <a:pt x="0" y="0"/>
                  </a:moveTo>
                  <a:lnTo>
                    <a:pt x="3570776" y="0"/>
                  </a:lnTo>
                  <a:lnTo>
                    <a:pt x="3570776" y="1751852"/>
                  </a:lnTo>
                  <a:lnTo>
                    <a:pt x="0" y="1751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7164" r="-4006" b="-5483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92812" y="123626"/>
              <a:ext cx="2250865" cy="1995096"/>
            </a:xfrm>
            <a:custGeom>
              <a:avLst/>
              <a:gdLst/>
              <a:ahLst/>
              <a:cxnLst/>
              <a:rect r="r" b="b" t="t" l="l"/>
              <a:pathLst>
                <a:path h="1995096" w="2250865">
                  <a:moveTo>
                    <a:pt x="0" y="0"/>
                  </a:moveTo>
                  <a:lnTo>
                    <a:pt x="2250865" y="0"/>
                  </a:lnTo>
                  <a:lnTo>
                    <a:pt x="2250865" y="1995096"/>
                  </a:lnTo>
                  <a:lnTo>
                    <a:pt x="0" y="1995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2292" r="0" b="-18463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603889" y="0"/>
              <a:ext cx="2413913" cy="2242348"/>
            </a:xfrm>
            <a:custGeom>
              <a:avLst/>
              <a:gdLst/>
              <a:ahLst/>
              <a:cxnLst/>
              <a:rect r="r" b="b" t="t" l="l"/>
              <a:pathLst>
                <a:path h="2242348" w="2413913">
                  <a:moveTo>
                    <a:pt x="0" y="0"/>
                  </a:moveTo>
                  <a:lnTo>
                    <a:pt x="2413913" y="0"/>
                  </a:lnTo>
                  <a:lnTo>
                    <a:pt x="2413913" y="2242348"/>
                  </a:lnTo>
                  <a:lnTo>
                    <a:pt x="0" y="2242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9151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2286798"/>
              <a:ext cx="5329050" cy="448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7"/>
                </a:lnSpc>
                <a:spcBef>
                  <a:spcPct val="0"/>
                </a:spcBef>
              </a:pPr>
              <a:r>
                <a:rPr lang="en-US" sz="1941" spc="506">
                  <a:solidFill>
                    <a:srgbClr val="730F28"/>
                  </a:solidFill>
                  <a:latin typeface="Poppins"/>
                  <a:ea typeface="Poppins"/>
                  <a:cs typeface="Poppins"/>
                  <a:sym typeface="Poppins"/>
                </a:rPr>
                <a:t>MANUAL PILL BOXES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596321" y="2286798"/>
              <a:ext cx="4123246" cy="448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7"/>
                </a:lnSpc>
                <a:spcBef>
                  <a:spcPct val="0"/>
                </a:spcBef>
              </a:pPr>
              <a:r>
                <a:rPr lang="en-US" sz="1941" spc="506">
                  <a:solidFill>
                    <a:srgbClr val="730F28"/>
                  </a:solidFill>
                  <a:latin typeface="Poppins"/>
                  <a:ea typeface="Poppins"/>
                  <a:cs typeface="Poppins"/>
                  <a:sym typeface="Poppins"/>
                </a:rPr>
                <a:t>REM</a:t>
              </a:r>
              <a:r>
                <a:rPr lang="en-US" sz="1941" spc="506">
                  <a:solidFill>
                    <a:srgbClr val="730F28"/>
                  </a:solidFill>
                  <a:latin typeface="Poppins"/>
                  <a:ea typeface="Poppins"/>
                  <a:cs typeface="Poppins"/>
                  <a:sym typeface="Poppins"/>
                </a:rPr>
                <a:t>INDER APPS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0420329" y="2286798"/>
              <a:ext cx="4920303" cy="448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7"/>
                </a:lnSpc>
                <a:spcBef>
                  <a:spcPct val="0"/>
                </a:spcBef>
              </a:pPr>
              <a:r>
                <a:rPr lang="en-US" sz="1941" spc="506">
                  <a:solidFill>
                    <a:srgbClr val="730F28"/>
                  </a:solidFill>
                  <a:latin typeface="Poppins"/>
                  <a:ea typeface="Poppins"/>
                  <a:cs typeface="Poppins"/>
                  <a:sym typeface="Poppins"/>
                </a:rPr>
                <a:t>SMART DISPENSERS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6674867" y="2286798"/>
              <a:ext cx="4123246" cy="448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7"/>
                </a:lnSpc>
                <a:spcBef>
                  <a:spcPct val="0"/>
                </a:spcBef>
              </a:pPr>
              <a:r>
                <a:rPr lang="en-US" sz="1941" spc="506">
                  <a:solidFill>
                    <a:srgbClr val="730F28"/>
                  </a:solidFill>
                  <a:latin typeface="Poppins"/>
                  <a:ea typeface="Poppins"/>
                  <a:cs typeface="Poppins"/>
                  <a:sym typeface="Poppins"/>
                </a:rPr>
                <a:t>REMIND ME BOX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43689" y="5965759"/>
            <a:ext cx="3487934" cy="2983258"/>
            <a:chOff x="0" y="0"/>
            <a:chExt cx="4650579" cy="3977678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12700" y="3270138"/>
              <a:ext cx="4637879" cy="707540"/>
              <a:chOff x="0" y="0"/>
              <a:chExt cx="916124" cy="13976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16124" cy="139761"/>
              </a:xfrm>
              <a:custGeom>
                <a:avLst/>
                <a:gdLst/>
                <a:ahLst/>
                <a:cxnLst/>
                <a:rect r="r" b="b" t="t" l="l"/>
                <a:pathLst>
                  <a:path h="139761" w="916124">
                    <a:moveTo>
                      <a:pt x="69880" y="0"/>
                    </a:moveTo>
                    <a:lnTo>
                      <a:pt x="846244" y="0"/>
                    </a:lnTo>
                    <a:cubicBezTo>
                      <a:pt x="864777" y="0"/>
                      <a:pt x="882551" y="7362"/>
                      <a:pt x="895657" y="20468"/>
                    </a:cubicBezTo>
                    <a:cubicBezTo>
                      <a:pt x="908762" y="33573"/>
                      <a:pt x="916124" y="51347"/>
                      <a:pt x="916124" y="69880"/>
                    </a:cubicBezTo>
                    <a:lnTo>
                      <a:pt x="916124" y="69880"/>
                    </a:lnTo>
                    <a:cubicBezTo>
                      <a:pt x="916124" y="108474"/>
                      <a:pt x="884838" y="139761"/>
                      <a:pt x="846244" y="139761"/>
                    </a:cubicBezTo>
                    <a:lnTo>
                      <a:pt x="69880" y="139761"/>
                    </a:lnTo>
                    <a:cubicBezTo>
                      <a:pt x="31287" y="139761"/>
                      <a:pt x="0" y="108474"/>
                      <a:pt x="0" y="69880"/>
                    </a:cubicBezTo>
                    <a:lnTo>
                      <a:pt x="0" y="69880"/>
                    </a:lnTo>
                    <a:cubicBezTo>
                      <a:pt x="0" y="31287"/>
                      <a:pt x="31287" y="0"/>
                      <a:pt x="6988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80000"/>
                    </a:srgbClr>
                  </a:gs>
                  <a:gs pos="100000">
                    <a:srgbClr val="300202">
                      <a:alpha val="34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916124" cy="1969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17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3858897" y="3353182"/>
              <a:ext cx="550381" cy="550381"/>
            </a:xfrm>
            <a:custGeom>
              <a:avLst/>
              <a:gdLst/>
              <a:ahLst/>
              <a:cxnLst/>
              <a:rect r="r" b="b" t="t" l="l"/>
              <a:pathLst>
                <a:path h="550381" w="550381">
                  <a:moveTo>
                    <a:pt x="0" y="0"/>
                  </a:moveTo>
                  <a:lnTo>
                    <a:pt x="550382" y="0"/>
                  </a:lnTo>
                  <a:lnTo>
                    <a:pt x="550382" y="550381"/>
                  </a:lnTo>
                  <a:lnTo>
                    <a:pt x="0" y="55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0" id="30"/>
            <p:cNvGrpSpPr/>
            <p:nvPr/>
          </p:nvGrpSpPr>
          <p:grpSpPr>
            <a:xfrm rot="0">
              <a:off x="12700" y="809140"/>
              <a:ext cx="4637879" cy="707540"/>
              <a:chOff x="0" y="0"/>
              <a:chExt cx="916124" cy="139761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16124" cy="139761"/>
              </a:xfrm>
              <a:custGeom>
                <a:avLst/>
                <a:gdLst/>
                <a:ahLst/>
                <a:cxnLst/>
                <a:rect r="r" b="b" t="t" l="l"/>
                <a:pathLst>
                  <a:path h="139761" w="916124">
                    <a:moveTo>
                      <a:pt x="69880" y="0"/>
                    </a:moveTo>
                    <a:lnTo>
                      <a:pt x="846244" y="0"/>
                    </a:lnTo>
                    <a:cubicBezTo>
                      <a:pt x="864777" y="0"/>
                      <a:pt x="882551" y="7362"/>
                      <a:pt x="895657" y="20468"/>
                    </a:cubicBezTo>
                    <a:cubicBezTo>
                      <a:pt x="908762" y="33573"/>
                      <a:pt x="916124" y="51347"/>
                      <a:pt x="916124" y="69880"/>
                    </a:cubicBezTo>
                    <a:lnTo>
                      <a:pt x="916124" y="69880"/>
                    </a:lnTo>
                    <a:cubicBezTo>
                      <a:pt x="916124" y="108474"/>
                      <a:pt x="884838" y="139761"/>
                      <a:pt x="846244" y="139761"/>
                    </a:cubicBezTo>
                    <a:lnTo>
                      <a:pt x="69880" y="139761"/>
                    </a:lnTo>
                    <a:cubicBezTo>
                      <a:pt x="31287" y="139761"/>
                      <a:pt x="0" y="108474"/>
                      <a:pt x="0" y="69880"/>
                    </a:cubicBezTo>
                    <a:lnTo>
                      <a:pt x="0" y="69880"/>
                    </a:lnTo>
                    <a:cubicBezTo>
                      <a:pt x="0" y="31287"/>
                      <a:pt x="31287" y="0"/>
                      <a:pt x="6988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80000"/>
                    </a:srgbClr>
                  </a:gs>
                  <a:gs pos="100000">
                    <a:srgbClr val="300202">
                      <a:alpha val="34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916124" cy="1969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17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3841734" y="895041"/>
              <a:ext cx="550381" cy="550381"/>
            </a:xfrm>
            <a:custGeom>
              <a:avLst/>
              <a:gdLst/>
              <a:ahLst/>
              <a:cxnLst/>
              <a:rect r="r" b="b" t="t" l="l"/>
              <a:pathLst>
                <a:path h="550381" w="550381">
                  <a:moveTo>
                    <a:pt x="0" y="0"/>
                  </a:moveTo>
                  <a:lnTo>
                    <a:pt x="550381" y="0"/>
                  </a:lnTo>
                  <a:lnTo>
                    <a:pt x="550381" y="550381"/>
                  </a:lnTo>
                  <a:lnTo>
                    <a:pt x="0" y="55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0">
              <a:off x="0" y="1624629"/>
              <a:ext cx="4637879" cy="707540"/>
              <a:chOff x="0" y="0"/>
              <a:chExt cx="916124" cy="13976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16124" cy="139761"/>
              </a:xfrm>
              <a:custGeom>
                <a:avLst/>
                <a:gdLst/>
                <a:ahLst/>
                <a:cxnLst/>
                <a:rect r="r" b="b" t="t" l="l"/>
                <a:pathLst>
                  <a:path h="139761" w="916124">
                    <a:moveTo>
                      <a:pt x="69880" y="0"/>
                    </a:moveTo>
                    <a:lnTo>
                      <a:pt x="846244" y="0"/>
                    </a:lnTo>
                    <a:cubicBezTo>
                      <a:pt x="864777" y="0"/>
                      <a:pt x="882551" y="7362"/>
                      <a:pt x="895657" y="20468"/>
                    </a:cubicBezTo>
                    <a:cubicBezTo>
                      <a:pt x="908762" y="33573"/>
                      <a:pt x="916124" y="51347"/>
                      <a:pt x="916124" y="69880"/>
                    </a:cubicBezTo>
                    <a:lnTo>
                      <a:pt x="916124" y="69880"/>
                    </a:lnTo>
                    <a:cubicBezTo>
                      <a:pt x="916124" y="108474"/>
                      <a:pt x="884838" y="139761"/>
                      <a:pt x="846244" y="139761"/>
                    </a:cubicBezTo>
                    <a:lnTo>
                      <a:pt x="69880" y="139761"/>
                    </a:lnTo>
                    <a:cubicBezTo>
                      <a:pt x="31287" y="139761"/>
                      <a:pt x="0" y="108474"/>
                      <a:pt x="0" y="69880"/>
                    </a:cubicBezTo>
                    <a:lnTo>
                      <a:pt x="0" y="69880"/>
                    </a:lnTo>
                    <a:cubicBezTo>
                      <a:pt x="0" y="31287"/>
                      <a:pt x="31287" y="0"/>
                      <a:pt x="6988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80000"/>
                    </a:srgbClr>
                  </a:gs>
                  <a:gs pos="100000">
                    <a:srgbClr val="300202">
                      <a:alpha val="34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916124" cy="1969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17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3841734" y="1731481"/>
              <a:ext cx="550381" cy="550381"/>
            </a:xfrm>
            <a:custGeom>
              <a:avLst/>
              <a:gdLst/>
              <a:ahLst/>
              <a:cxnLst/>
              <a:rect r="r" b="b" t="t" l="l"/>
              <a:pathLst>
                <a:path h="550381" w="550381">
                  <a:moveTo>
                    <a:pt x="0" y="0"/>
                  </a:moveTo>
                  <a:lnTo>
                    <a:pt x="550381" y="0"/>
                  </a:lnTo>
                  <a:lnTo>
                    <a:pt x="550381" y="550381"/>
                  </a:lnTo>
                  <a:lnTo>
                    <a:pt x="0" y="55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8" id="38"/>
            <p:cNvGrpSpPr/>
            <p:nvPr/>
          </p:nvGrpSpPr>
          <p:grpSpPr>
            <a:xfrm rot="0">
              <a:off x="12700" y="0"/>
              <a:ext cx="4637879" cy="707540"/>
              <a:chOff x="0" y="0"/>
              <a:chExt cx="916124" cy="13976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916124" cy="139761"/>
              </a:xfrm>
              <a:custGeom>
                <a:avLst/>
                <a:gdLst/>
                <a:ahLst/>
                <a:cxnLst/>
                <a:rect r="r" b="b" t="t" l="l"/>
                <a:pathLst>
                  <a:path h="139761" w="916124">
                    <a:moveTo>
                      <a:pt x="69880" y="0"/>
                    </a:moveTo>
                    <a:lnTo>
                      <a:pt x="846244" y="0"/>
                    </a:lnTo>
                    <a:cubicBezTo>
                      <a:pt x="864777" y="0"/>
                      <a:pt x="882551" y="7362"/>
                      <a:pt x="895657" y="20468"/>
                    </a:cubicBezTo>
                    <a:cubicBezTo>
                      <a:pt x="908762" y="33573"/>
                      <a:pt x="916124" y="51347"/>
                      <a:pt x="916124" y="69880"/>
                    </a:cubicBezTo>
                    <a:lnTo>
                      <a:pt x="916124" y="69880"/>
                    </a:lnTo>
                    <a:cubicBezTo>
                      <a:pt x="916124" y="108474"/>
                      <a:pt x="884838" y="139761"/>
                      <a:pt x="846244" y="139761"/>
                    </a:cubicBezTo>
                    <a:lnTo>
                      <a:pt x="69880" y="139761"/>
                    </a:lnTo>
                    <a:cubicBezTo>
                      <a:pt x="31287" y="139761"/>
                      <a:pt x="0" y="108474"/>
                      <a:pt x="0" y="69880"/>
                    </a:cubicBezTo>
                    <a:lnTo>
                      <a:pt x="0" y="69880"/>
                    </a:lnTo>
                    <a:cubicBezTo>
                      <a:pt x="0" y="31287"/>
                      <a:pt x="31287" y="0"/>
                      <a:pt x="6988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80000"/>
                    </a:srgbClr>
                  </a:gs>
                  <a:gs pos="100000">
                    <a:srgbClr val="300202">
                      <a:alpha val="34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916124" cy="1969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17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3841734" y="77959"/>
              <a:ext cx="550381" cy="550381"/>
            </a:xfrm>
            <a:custGeom>
              <a:avLst/>
              <a:gdLst/>
              <a:ahLst/>
              <a:cxnLst/>
              <a:rect r="r" b="b" t="t" l="l"/>
              <a:pathLst>
                <a:path h="550381" w="550381">
                  <a:moveTo>
                    <a:pt x="0" y="0"/>
                  </a:moveTo>
                  <a:lnTo>
                    <a:pt x="550381" y="0"/>
                  </a:lnTo>
                  <a:lnTo>
                    <a:pt x="550381" y="550382"/>
                  </a:lnTo>
                  <a:lnTo>
                    <a:pt x="0" y="550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80571" y="119839"/>
              <a:ext cx="4036353" cy="398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0"/>
                </a:lnSpc>
              </a:pPr>
              <a:r>
                <a:rPr lang="en-US" sz="1836" spc="-86">
                  <a:solidFill>
                    <a:srgbClr val="FEFEFE"/>
                  </a:solidFill>
                  <a:latin typeface="Open Sans"/>
                  <a:ea typeface="Open Sans"/>
                  <a:cs typeface="Open Sans"/>
                  <a:sym typeface="Open Sans"/>
                </a:rPr>
                <a:t>Automated dispensing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12700" y="2446469"/>
              <a:ext cx="4637879" cy="707540"/>
              <a:chOff x="0" y="0"/>
              <a:chExt cx="916124" cy="13976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16124" cy="139761"/>
              </a:xfrm>
              <a:custGeom>
                <a:avLst/>
                <a:gdLst/>
                <a:ahLst/>
                <a:cxnLst/>
                <a:rect r="r" b="b" t="t" l="l"/>
                <a:pathLst>
                  <a:path h="139761" w="916124">
                    <a:moveTo>
                      <a:pt x="69880" y="0"/>
                    </a:moveTo>
                    <a:lnTo>
                      <a:pt x="846244" y="0"/>
                    </a:lnTo>
                    <a:cubicBezTo>
                      <a:pt x="864777" y="0"/>
                      <a:pt x="882551" y="7362"/>
                      <a:pt x="895657" y="20468"/>
                    </a:cubicBezTo>
                    <a:cubicBezTo>
                      <a:pt x="908762" y="33573"/>
                      <a:pt x="916124" y="51347"/>
                      <a:pt x="916124" y="69880"/>
                    </a:cubicBezTo>
                    <a:lnTo>
                      <a:pt x="916124" y="69880"/>
                    </a:lnTo>
                    <a:cubicBezTo>
                      <a:pt x="916124" y="108474"/>
                      <a:pt x="884838" y="139761"/>
                      <a:pt x="846244" y="139761"/>
                    </a:cubicBezTo>
                    <a:lnTo>
                      <a:pt x="69880" y="139761"/>
                    </a:lnTo>
                    <a:cubicBezTo>
                      <a:pt x="31287" y="139761"/>
                      <a:pt x="0" y="108474"/>
                      <a:pt x="0" y="69880"/>
                    </a:cubicBezTo>
                    <a:lnTo>
                      <a:pt x="0" y="69880"/>
                    </a:lnTo>
                    <a:cubicBezTo>
                      <a:pt x="0" y="31287"/>
                      <a:pt x="31287" y="0"/>
                      <a:pt x="6988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100000"/>
                    </a:srgbClr>
                  </a:gs>
                  <a:gs pos="33333">
                    <a:srgbClr val="220239">
                      <a:alpha val="100000"/>
                    </a:srgbClr>
                  </a:gs>
                  <a:gs pos="66667">
                    <a:srgbClr val="490326">
                      <a:alpha val="80000"/>
                    </a:srgbClr>
                  </a:gs>
                  <a:gs pos="100000">
                    <a:srgbClr val="300202">
                      <a:alpha val="345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57150"/>
                <a:ext cx="916124" cy="1969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17"/>
                  </a:lnSpc>
                </a:pPr>
              </a:p>
            </p:txBody>
          </p:sp>
        </p:grpSp>
        <p:sp>
          <p:nvSpPr>
            <p:cNvPr name="Freeform 46" id="46"/>
            <p:cNvSpPr/>
            <p:nvPr/>
          </p:nvSpPr>
          <p:spPr>
            <a:xfrm flipH="false" flipV="false" rot="0">
              <a:off x="3854434" y="2553320"/>
              <a:ext cx="550381" cy="550381"/>
            </a:xfrm>
            <a:custGeom>
              <a:avLst/>
              <a:gdLst/>
              <a:ahLst/>
              <a:cxnLst/>
              <a:rect r="r" b="b" t="t" l="l"/>
              <a:pathLst>
                <a:path h="550381" w="550381">
                  <a:moveTo>
                    <a:pt x="0" y="0"/>
                  </a:moveTo>
                  <a:lnTo>
                    <a:pt x="550381" y="0"/>
                  </a:lnTo>
                  <a:lnTo>
                    <a:pt x="550381" y="550381"/>
                  </a:lnTo>
                  <a:lnTo>
                    <a:pt x="0" y="550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80571" y="952703"/>
              <a:ext cx="4036353" cy="398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0"/>
                </a:lnSpc>
              </a:pPr>
              <a:r>
                <a:rPr lang="en-US" sz="1836" spc="-86">
                  <a:solidFill>
                    <a:srgbClr val="FEFEFE"/>
                  </a:solidFill>
                  <a:latin typeface="Open Sans"/>
                  <a:ea typeface="Open Sans"/>
                  <a:cs typeface="Open Sans"/>
                  <a:sym typeface="Open Sans"/>
                </a:rPr>
                <a:t>Real-time monitoring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80571" y="1843704"/>
              <a:ext cx="4036353" cy="398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0"/>
                </a:lnSpc>
              </a:pPr>
              <a:r>
                <a:rPr lang="en-US" sz="1836" spc="-86">
                  <a:solidFill>
                    <a:srgbClr val="FEFEFE"/>
                  </a:solidFill>
                  <a:latin typeface="Open Sans"/>
                  <a:ea typeface="Open Sans"/>
                  <a:cs typeface="Open Sans"/>
                  <a:sym typeface="Open Sans"/>
                </a:rPr>
                <a:t>AI assistance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22963" y="2595694"/>
              <a:ext cx="4036353" cy="398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0"/>
                </a:lnSpc>
              </a:pPr>
              <a:r>
                <a:rPr lang="en-US" sz="1836" spc="-86">
                  <a:solidFill>
                    <a:srgbClr val="FEFEFE"/>
                  </a:solidFill>
                  <a:latin typeface="Open Sans"/>
                  <a:ea typeface="Open Sans"/>
                  <a:cs typeface="Open Sans"/>
                  <a:sym typeface="Open Sans"/>
                </a:rPr>
                <a:t>Crisis Resilience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80571" y="3404833"/>
              <a:ext cx="4036353" cy="398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70"/>
                </a:lnSpc>
              </a:pPr>
              <a:r>
                <a:rPr lang="en-US" sz="1836" spc="-86">
                  <a:solidFill>
                    <a:srgbClr val="FEFEFE"/>
                  </a:solidFill>
                  <a:latin typeface="Open Sans"/>
                  <a:ea typeface="Open Sans"/>
                  <a:cs typeface="Open Sans"/>
                  <a:sym typeface="Open Sans"/>
                </a:rPr>
                <a:t>Affordable &amp; local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976986" y="8418363"/>
            <a:ext cx="3478409" cy="530655"/>
            <a:chOff x="0" y="0"/>
            <a:chExt cx="916124" cy="13976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7861634" y="8480646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6" y="0"/>
                </a:lnTo>
                <a:lnTo>
                  <a:pt x="412786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4976986" y="6572614"/>
            <a:ext cx="3478409" cy="530655"/>
            <a:chOff x="0" y="0"/>
            <a:chExt cx="916124" cy="13976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7848762" y="6637040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5" y="0"/>
                </a:lnTo>
                <a:lnTo>
                  <a:pt x="412785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4967461" y="7184231"/>
            <a:ext cx="3478409" cy="530655"/>
            <a:chOff x="0" y="0"/>
            <a:chExt cx="916124" cy="13976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7848762" y="7264370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5" y="0"/>
                </a:lnTo>
                <a:lnTo>
                  <a:pt x="412785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4976986" y="5965759"/>
            <a:ext cx="3478409" cy="530655"/>
            <a:chOff x="0" y="0"/>
            <a:chExt cx="916124" cy="13976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7848762" y="6024229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5" y="0"/>
                </a:lnTo>
                <a:lnTo>
                  <a:pt x="412785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4976986" y="7800611"/>
            <a:ext cx="3478409" cy="530655"/>
            <a:chOff x="0" y="0"/>
            <a:chExt cx="916124" cy="13976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7858287" y="7880750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5" y="0"/>
                </a:lnTo>
                <a:lnTo>
                  <a:pt x="412785" y="412785"/>
                </a:lnTo>
                <a:lnTo>
                  <a:pt x="0" y="4127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9021342" y="8457783"/>
            <a:ext cx="3478409" cy="530655"/>
            <a:chOff x="0" y="0"/>
            <a:chExt cx="916124" cy="13976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021342" y="6612034"/>
            <a:ext cx="3478409" cy="530655"/>
            <a:chOff x="0" y="0"/>
            <a:chExt cx="916124" cy="13976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011817" y="7223651"/>
            <a:ext cx="3478409" cy="530655"/>
            <a:chOff x="0" y="0"/>
            <a:chExt cx="916124" cy="13976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021342" y="6005179"/>
            <a:ext cx="3478409" cy="530655"/>
            <a:chOff x="0" y="0"/>
            <a:chExt cx="916124" cy="13976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9072245" y="6087914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Automated dispensing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9021342" y="7840030"/>
            <a:ext cx="3478409" cy="530655"/>
            <a:chOff x="0" y="0"/>
            <a:chExt cx="916124" cy="13976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11902642" y="7920169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6" y="0"/>
                </a:lnTo>
                <a:lnTo>
                  <a:pt x="412786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8" id="88"/>
          <p:cNvSpPr txBox="true"/>
          <p:nvPr/>
        </p:nvSpPr>
        <p:spPr>
          <a:xfrm rot="0">
            <a:off x="9072245" y="7380813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AI assistance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072245" y="8551660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Affordable &amp; local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13509590" y="8457783"/>
            <a:ext cx="3478409" cy="530655"/>
            <a:chOff x="0" y="0"/>
            <a:chExt cx="916124" cy="13976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16394238" y="8520065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6" y="0"/>
                </a:lnTo>
                <a:lnTo>
                  <a:pt x="412786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3509590" y="6612034"/>
            <a:ext cx="3478409" cy="530655"/>
            <a:chOff x="0" y="0"/>
            <a:chExt cx="916124" cy="13976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500065" y="7223651"/>
            <a:ext cx="3478409" cy="530655"/>
            <a:chOff x="0" y="0"/>
            <a:chExt cx="916124" cy="13976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3509590" y="6005179"/>
            <a:ext cx="3478409" cy="530655"/>
            <a:chOff x="0" y="0"/>
            <a:chExt cx="916124" cy="13976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509590" y="7840030"/>
            <a:ext cx="3478409" cy="530655"/>
            <a:chOff x="0" y="0"/>
            <a:chExt cx="916124" cy="13976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16124" cy="139761"/>
            </a:xfrm>
            <a:custGeom>
              <a:avLst/>
              <a:gdLst/>
              <a:ahLst/>
              <a:cxnLst/>
              <a:rect r="r" b="b" t="t" l="l"/>
              <a:pathLst>
                <a:path h="139761" w="916124">
                  <a:moveTo>
                    <a:pt x="69880" y="0"/>
                  </a:moveTo>
                  <a:lnTo>
                    <a:pt x="846244" y="0"/>
                  </a:lnTo>
                  <a:cubicBezTo>
                    <a:pt x="864777" y="0"/>
                    <a:pt x="882551" y="7362"/>
                    <a:pt x="895657" y="20468"/>
                  </a:cubicBezTo>
                  <a:cubicBezTo>
                    <a:pt x="908762" y="33573"/>
                    <a:pt x="916124" y="51347"/>
                    <a:pt x="916124" y="69880"/>
                  </a:cubicBezTo>
                  <a:lnTo>
                    <a:pt x="916124" y="69880"/>
                  </a:lnTo>
                  <a:cubicBezTo>
                    <a:pt x="916124" y="108474"/>
                    <a:pt x="884838" y="139761"/>
                    <a:pt x="846244" y="139761"/>
                  </a:cubicBezTo>
                  <a:lnTo>
                    <a:pt x="69880" y="139761"/>
                  </a:lnTo>
                  <a:cubicBezTo>
                    <a:pt x="31287" y="139761"/>
                    <a:pt x="0" y="108474"/>
                    <a:pt x="0" y="69880"/>
                  </a:cubicBezTo>
                  <a:lnTo>
                    <a:pt x="0" y="69880"/>
                  </a:lnTo>
                  <a:cubicBezTo>
                    <a:pt x="0" y="31287"/>
                    <a:pt x="31287" y="0"/>
                    <a:pt x="698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21834">
                    <a:alpha val="100000"/>
                  </a:srgbClr>
                </a:gs>
                <a:gs pos="33333">
                  <a:srgbClr val="220239">
                    <a:alpha val="100000"/>
                  </a:srgbClr>
                </a:gs>
                <a:gs pos="66667">
                  <a:srgbClr val="490326">
                    <a:alpha val="80000"/>
                  </a:srgbClr>
                </a:gs>
                <a:gs pos="100000">
                  <a:srgbClr val="300202">
                    <a:alpha val="345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916124" cy="196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7"/>
                </a:lnSpc>
              </a:pPr>
            </a:p>
          </p:txBody>
        </p:sp>
      </p:grpSp>
      <p:sp>
        <p:nvSpPr>
          <p:cNvPr name="Freeform 106" id="106"/>
          <p:cNvSpPr/>
          <p:nvPr/>
        </p:nvSpPr>
        <p:spPr>
          <a:xfrm flipH="false" flipV="false" rot="0">
            <a:off x="11893117" y="6048701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6" y="0"/>
                </a:lnTo>
                <a:lnTo>
                  <a:pt x="412786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11893117" y="7303790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6" y="0"/>
                </a:lnTo>
                <a:lnTo>
                  <a:pt x="412786" y="412785"/>
                </a:lnTo>
                <a:lnTo>
                  <a:pt x="0" y="4127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11924911" y="8513560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6" y="0"/>
                </a:lnTo>
                <a:lnTo>
                  <a:pt x="412786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11893117" y="6625818"/>
            <a:ext cx="429348" cy="416858"/>
          </a:xfrm>
          <a:custGeom>
            <a:avLst/>
            <a:gdLst/>
            <a:ahLst/>
            <a:cxnLst/>
            <a:rect r="r" b="b" t="t" l="l"/>
            <a:pathLst>
              <a:path h="416858" w="429348">
                <a:moveTo>
                  <a:pt x="0" y="0"/>
                </a:moveTo>
                <a:lnTo>
                  <a:pt x="429348" y="0"/>
                </a:lnTo>
                <a:lnTo>
                  <a:pt x="429348" y="416858"/>
                </a:lnTo>
                <a:lnTo>
                  <a:pt x="0" y="416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0" id="110"/>
          <p:cNvSpPr txBox="true"/>
          <p:nvPr/>
        </p:nvSpPr>
        <p:spPr>
          <a:xfrm rot="0">
            <a:off x="3162887" y="1469112"/>
            <a:ext cx="11962226" cy="6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6"/>
              </a:lnSpc>
            </a:pPr>
            <a:r>
              <a:rPr lang="en-US" sz="535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CFDBFF">
                        <a:alpha val="100000"/>
                      </a:srgbClr>
                    </a:gs>
                    <a:gs pos="100000">
                      <a:srgbClr val="FDC5C5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WHY REMIND ME BOX ?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7512113" y="9431587"/>
            <a:ext cx="362396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572693" y="2031787"/>
            <a:ext cx="4668697" cy="35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b="true" sz="1941" spc="50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DIFFERENCES HIGHLIGHTS 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5027890" y="6048495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Automated dispensing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5027890" y="6673143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Real-time monitoring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5027890" y="7341394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AI assistance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5059683" y="7905386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Crisis Resilience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5027890" y="8512241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Affordable &amp; local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9072245" y="6712563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Real-time monitoring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9104039" y="7944805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Crisis Resilience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13560493" y="6087914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Automated dispensing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3560493" y="6712563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Real-time monitoring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3560493" y="7380813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AI assistance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3592287" y="7944805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Crisis Resilience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3560493" y="8551660"/>
            <a:ext cx="3027265" cy="3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836" spc="-86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rPr>
              <a:t>Affordable &amp; local</a:t>
            </a:r>
          </a:p>
        </p:txBody>
      </p:sp>
      <p:sp>
        <p:nvSpPr>
          <p:cNvPr name="Freeform 126" id="126"/>
          <p:cNvSpPr/>
          <p:nvPr/>
        </p:nvSpPr>
        <p:spPr>
          <a:xfrm flipH="false" flipV="false" rot="0">
            <a:off x="16381365" y="7889440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6" y="0"/>
                </a:lnTo>
                <a:lnTo>
                  <a:pt x="412786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16381365" y="7264370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6" y="0"/>
                </a:lnTo>
                <a:lnTo>
                  <a:pt x="412786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16394238" y="6670968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6" y="0"/>
                </a:lnTo>
                <a:lnTo>
                  <a:pt x="412786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16394238" y="6046848"/>
            <a:ext cx="412786" cy="412786"/>
          </a:xfrm>
          <a:custGeom>
            <a:avLst/>
            <a:gdLst/>
            <a:ahLst/>
            <a:cxnLst/>
            <a:rect r="r" b="b" t="t" l="l"/>
            <a:pathLst>
              <a:path h="412786" w="412786">
                <a:moveTo>
                  <a:pt x="0" y="0"/>
                </a:moveTo>
                <a:lnTo>
                  <a:pt x="412786" y="0"/>
                </a:lnTo>
                <a:lnTo>
                  <a:pt x="412786" y="412786"/>
                </a:lnTo>
                <a:lnTo>
                  <a:pt x="0" y="412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8923" y="1414416"/>
            <a:ext cx="14010154" cy="9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8"/>
              </a:lnSpc>
            </a:pPr>
            <a:r>
              <a:rPr lang="en-US" sz="6877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FINANCIAL ANALYSIS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8304" y="3176310"/>
            <a:ext cx="4318778" cy="5343164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724477" y="2607084"/>
            <a:ext cx="2839045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7"/>
              </a:lnSpc>
              <a:spcBef>
                <a:spcPct val="0"/>
              </a:spcBef>
            </a:pPr>
            <a:r>
              <a:rPr lang="en-US" b="true" sz="1941" spc="506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REV</a:t>
            </a:r>
            <a:r>
              <a:rPr lang="en-US" b="true" sz="1941" spc="506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ENUE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2673" y="3077164"/>
            <a:ext cx="3294013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b="true" sz="1941" spc="506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PROTOTYPE</a:t>
            </a:r>
            <a:r>
              <a:rPr lang="en-US" b="true" sz="1941" spc="506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 COSTS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95520" y="3077164"/>
            <a:ext cx="2645718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b="true" sz="1941" spc="506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POT</a:t>
            </a:r>
            <a:r>
              <a:rPr lang="en-US" b="true" sz="1941" spc="506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ENTIAL ROI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696783" y="2612572"/>
            <a:ext cx="6558202" cy="7679561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45363" y="3075871"/>
            <a:ext cx="5692405" cy="523283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224479" y="8125739"/>
            <a:ext cx="3437340" cy="1149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b="true" sz="1610" spc="-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P</a:t>
            </a:r>
            <a:r>
              <a:rPr lang="en-US" b="true" sz="1610" spc="-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rototype cost :385 Dt  </a:t>
            </a:r>
          </a:p>
          <a:p>
            <a:pPr algn="ctr">
              <a:lnSpc>
                <a:spcPts val="2254"/>
              </a:lnSpc>
            </a:pPr>
            <a:r>
              <a:rPr lang="en-US" sz="1610" spc="-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hardware components (270)</a:t>
            </a:r>
          </a:p>
          <a:p>
            <a:pPr algn="ctr">
              <a:lnSpc>
                <a:spcPts val="2254"/>
              </a:lnSpc>
            </a:pPr>
            <a:r>
              <a:rPr lang="en-US" sz="1610" spc="-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mechanical assembly (115)</a:t>
            </a:r>
          </a:p>
          <a:p>
            <a:pPr algn="ctr">
              <a:lnSpc>
                <a:spcPts val="225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7454963" y="9431587"/>
            <a:ext cx="364151" cy="693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</a:p>
          <a:p>
            <a:pPr algn="just">
              <a:lnSpc>
                <a:spcPts val="271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8923" y="1414416"/>
            <a:ext cx="14010154" cy="9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8"/>
              </a:lnSpc>
            </a:pPr>
            <a:r>
              <a:rPr lang="en-US" sz="6877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MODEL CANVAS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4541" y="2288189"/>
            <a:ext cx="16230600" cy="7408395"/>
            <a:chOff x="0" y="0"/>
            <a:chExt cx="21640800" cy="987786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11737"/>
              <a:ext cx="4175058" cy="6986545"/>
              <a:chOff x="0" y="0"/>
              <a:chExt cx="498078" cy="83348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98078" cy="833484"/>
              </a:xfrm>
              <a:custGeom>
                <a:avLst/>
                <a:gdLst/>
                <a:ahLst/>
                <a:cxnLst/>
                <a:rect r="r" b="b" t="t" l="l"/>
                <a:pathLst>
                  <a:path h="833484" w="498078">
                    <a:moveTo>
                      <a:pt x="0" y="0"/>
                    </a:moveTo>
                    <a:lnTo>
                      <a:pt x="498078" y="0"/>
                    </a:lnTo>
                    <a:lnTo>
                      <a:pt x="498078" y="833484"/>
                    </a:lnTo>
                    <a:lnTo>
                      <a:pt x="0" y="8334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9050"/>
                <a:ext cx="498078" cy="814434"/>
              </a:xfrm>
              <a:prstGeom prst="rect">
                <a:avLst/>
              </a:prstGeom>
            </p:spPr>
            <p:txBody>
              <a:bodyPr anchor="ctr" rtlCol="false" tIns="48831" lIns="48831" bIns="48831" rIns="48831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5400000">
              <a:off x="14542412" y="2779472"/>
              <a:ext cx="2765937" cy="11430839"/>
              <a:chOff x="0" y="0"/>
              <a:chExt cx="304682" cy="125916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04682" cy="1259165"/>
              </a:xfrm>
              <a:custGeom>
                <a:avLst/>
                <a:gdLst/>
                <a:ahLst/>
                <a:cxnLst/>
                <a:rect r="r" b="b" t="t" l="l"/>
                <a:pathLst>
                  <a:path h="1259165" w="304682">
                    <a:moveTo>
                      <a:pt x="0" y="0"/>
                    </a:moveTo>
                    <a:lnTo>
                      <a:pt x="304682" y="0"/>
                    </a:lnTo>
                    <a:lnTo>
                      <a:pt x="304682" y="1259165"/>
                    </a:lnTo>
                    <a:lnTo>
                      <a:pt x="0" y="125916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304682" cy="1240115"/>
              </a:xfrm>
              <a:prstGeom prst="rect">
                <a:avLst/>
              </a:prstGeom>
            </p:spPr>
            <p:txBody>
              <a:bodyPr anchor="ctr" rtlCol="false" tIns="52884" lIns="52884" bIns="52884" rIns="52884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5400000">
              <a:off x="3636939" y="3495672"/>
              <a:ext cx="2765937" cy="9998438"/>
              <a:chOff x="0" y="0"/>
              <a:chExt cx="304682" cy="110137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04682" cy="1101379"/>
              </a:xfrm>
              <a:custGeom>
                <a:avLst/>
                <a:gdLst/>
                <a:ahLst/>
                <a:cxnLst/>
                <a:rect r="r" b="b" t="t" l="l"/>
                <a:pathLst>
                  <a:path h="1101379" w="304682">
                    <a:moveTo>
                      <a:pt x="0" y="0"/>
                    </a:moveTo>
                    <a:lnTo>
                      <a:pt x="304682" y="0"/>
                    </a:lnTo>
                    <a:lnTo>
                      <a:pt x="304682" y="1101379"/>
                    </a:lnTo>
                    <a:lnTo>
                      <a:pt x="0" y="110137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304682" cy="1082329"/>
              </a:xfrm>
              <a:prstGeom prst="rect">
                <a:avLst/>
              </a:prstGeom>
            </p:spPr>
            <p:txBody>
              <a:bodyPr anchor="ctr" rtlCol="false" tIns="52884" lIns="52884" bIns="52884" rIns="52884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4382610" y="0"/>
              <a:ext cx="4175058" cy="3620875"/>
              <a:chOff x="0" y="0"/>
              <a:chExt cx="524392" cy="45478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24392" cy="454786"/>
              </a:xfrm>
              <a:custGeom>
                <a:avLst/>
                <a:gdLst/>
                <a:ahLst/>
                <a:cxnLst/>
                <a:rect r="r" b="b" t="t" l="l"/>
                <a:pathLst>
                  <a:path h="454786" w="524392">
                    <a:moveTo>
                      <a:pt x="0" y="0"/>
                    </a:moveTo>
                    <a:lnTo>
                      <a:pt x="524392" y="0"/>
                    </a:lnTo>
                    <a:lnTo>
                      <a:pt x="524392" y="454786"/>
                    </a:lnTo>
                    <a:lnTo>
                      <a:pt x="0" y="45478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524392" cy="435736"/>
              </a:xfrm>
              <a:prstGeom prst="rect">
                <a:avLst/>
              </a:prstGeom>
            </p:spPr>
            <p:txBody>
              <a:bodyPr anchor="ctr" rtlCol="false" tIns="47583" lIns="47583" bIns="47583" rIns="47583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4538737" y="169294"/>
              <a:ext cx="3867823" cy="3304071"/>
              <a:chOff x="0" y="0"/>
              <a:chExt cx="485803" cy="41499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85803" cy="414995"/>
              </a:xfrm>
              <a:custGeom>
                <a:avLst/>
                <a:gdLst/>
                <a:ahLst/>
                <a:cxnLst/>
                <a:rect r="r" b="b" t="t" l="l"/>
                <a:pathLst>
                  <a:path h="414995" w="485803">
                    <a:moveTo>
                      <a:pt x="0" y="0"/>
                    </a:moveTo>
                    <a:lnTo>
                      <a:pt x="485803" y="0"/>
                    </a:lnTo>
                    <a:lnTo>
                      <a:pt x="485803" y="414995"/>
                    </a:lnTo>
                    <a:lnTo>
                      <a:pt x="0" y="41499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38100" cap="sq">
                <a:solidFill>
                  <a:srgbClr val="19486A">
                    <a:alpha val="73725"/>
                  </a:srgbClr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485803" cy="424520"/>
              </a:xfrm>
              <a:prstGeom prst="rect">
                <a:avLst/>
              </a:prstGeom>
            </p:spPr>
            <p:txBody>
              <a:bodyPr anchor="ctr" rtlCol="false" tIns="47583" lIns="47583" bIns="47583" rIns="47583"/>
              <a:lstStyle/>
              <a:p>
                <a:pPr algn="l">
                  <a:lnSpc>
                    <a:spcPts val="1443"/>
                  </a:lnSpc>
                </a:pPr>
              </a:p>
              <a:p>
                <a:pPr algn="l">
                  <a:lnSpc>
                    <a:spcPts val="1443"/>
                  </a:lnSpc>
                </a:pPr>
              </a:p>
              <a:p>
                <a:pPr algn="l" marL="280671" indent="-140336" lvl="1">
                  <a:lnSpc>
                    <a:spcPts val="1443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PRODUCT RESEARCH AND DEVELOPMENT</a:t>
                </a:r>
              </a:p>
              <a:p>
                <a:pPr algn="l" marL="280671" indent="-140336" lvl="1">
                  <a:lnSpc>
                    <a:spcPts val="1443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DEVICE ASSEMBLY AND INTEGRATION</a:t>
                </a:r>
              </a:p>
              <a:p>
                <a:pPr algn="l" marL="280671" indent="-140336" lvl="1">
                  <a:lnSpc>
                    <a:spcPts val="1443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CLOUD AND M</a:t>
                </a: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OBILE SOFTW</a:t>
                </a: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ARE DEVELOPMENT</a:t>
                </a:r>
              </a:p>
              <a:p>
                <a:pPr algn="l" marL="280671" indent="-140336" lvl="1">
                  <a:lnSpc>
                    <a:spcPts val="1443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TEST</a:t>
                </a: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ING AND CERTIFICATION</a:t>
                </a:r>
              </a:p>
              <a:p>
                <a:pPr algn="l" marL="280671" indent="-140336" lvl="1">
                  <a:lnSpc>
                    <a:spcPts val="1443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COMPLIANCE MANAGEMENT</a:t>
                </a:r>
              </a:p>
              <a:p>
                <a:pPr algn="l" marL="280671" indent="-140336" lvl="1">
                  <a:lnSpc>
                    <a:spcPts val="1443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DISTRIBUTION MANAGEMENT</a:t>
                </a:r>
              </a:p>
              <a:p>
                <a:pPr algn="l">
                  <a:lnSpc>
                    <a:spcPts val="1443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4382610" y="3709758"/>
              <a:ext cx="4175058" cy="3276788"/>
              <a:chOff x="0" y="0"/>
              <a:chExt cx="524392" cy="41156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24392" cy="411568"/>
              </a:xfrm>
              <a:custGeom>
                <a:avLst/>
                <a:gdLst/>
                <a:ahLst/>
                <a:cxnLst/>
                <a:rect r="r" b="b" t="t" l="l"/>
                <a:pathLst>
                  <a:path h="411568" w="524392">
                    <a:moveTo>
                      <a:pt x="0" y="0"/>
                    </a:moveTo>
                    <a:lnTo>
                      <a:pt x="524392" y="0"/>
                    </a:lnTo>
                    <a:lnTo>
                      <a:pt x="524392" y="411568"/>
                    </a:lnTo>
                    <a:lnTo>
                      <a:pt x="0" y="411568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19050"/>
                <a:ext cx="524392" cy="392518"/>
              </a:xfrm>
              <a:prstGeom prst="rect">
                <a:avLst/>
              </a:prstGeom>
            </p:spPr>
            <p:txBody>
              <a:bodyPr anchor="ctr" rtlCol="false" tIns="47583" lIns="47583" bIns="47583" rIns="47583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4538737" y="3878012"/>
              <a:ext cx="3867823" cy="2948397"/>
              <a:chOff x="0" y="0"/>
              <a:chExt cx="485803" cy="37032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85803" cy="370322"/>
              </a:xfrm>
              <a:custGeom>
                <a:avLst/>
                <a:gdLst/>
                <a:ahLst/>
                <a:cxnLst/>
                <a:rect r="r" b="b" t="t" l="l"/>
                <a:pathLst>
                  <a:path h="370322" w="485803">
                    <a:moveTo>
                      <a:pt x="0" y="0"/>
                    </a:moveTo>
                    <a:lnTo>
                      <a:pt x="485803" y="0"/>
                    </a:lnTo>
                    <a:lnTo>
                      <a:pt x="485803" y="370322"/>
                    </a:lnTo>
                    <a:lnTo>
                      <a:pt x="0" y="37032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38100" cap="sq">
                <a:solidFill>
                  <a:srgbClr val="19486A">
                    <a:alpha val="73725"/>
                  </a:srgbClr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485803" cy="370322"/>
              </a:xfrm>
              <a:prstGeom prst="rect">
                <a:avLst/>
              </a:prstGeom>
            </p:spPr>
            <p:txBody>
              <a:bodyPr anchor="ctr" rtlCol="false" tIns="47583" lIns="47583" bIns="47583" rIns="47583"/>
              <a:lstStyle/>
              <a:p>
                <a:pPr algn="l">
                  <a:lnSpc>
                    <a:spcPts val="1300"/>
                  </a:lnSpc>
                </a:pPr>
              </a:p>
              <a:p>
                <a:pPr algn="l" marL="280671" indent="-140336" lvl="1">
                  <a:lnSpc>
                    <a:spcPts val="1443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SMART HARDWARE &amp; IOT INFRASTRUCTURE</a:t>
                </a:r>
              </a:p>
              <a:p>
                <a:pPr algn="l" marL="280671" indent="-140336" lvl="1">
                  <a:lnSpc>
                    <a:spcPts val="1443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CLOUD &amp; AI PLATFORM</a:t>
                </a:r>
              </a:p>
              <a:p>
                <a:pPr algn="l" marL="280671" indent="-140336" lvl="1">
                  <a:lnSpc>
                    <a:spcPts val="1443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MULTIDISCIPLINARY TEAM (ENGINEERING, DATA, HEALTHCARE)</a:t>
                </a:r>
              </a:p>
              <a:p>
                <a:pPr algn="l" marL="280671" indent="-140336" lvl="1">
                  <a:lnSpc>
                    <a:spcPts val="1443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MANUFACTURING &amp; LOGISTICS CAPABILITIES</a:t>
                </a:r>
              </a:p>
              <a:p>
                <a:pPr algn="l" marL="280671" indent="-140336" lvl="1">
                  <a:lnSpc>
                    <a:spcPts val="1443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STRATEGIC PARTNERSHIPS</a:t>
                </a: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602269" y="295283"/>
              <a:ext cx="3689960" cy="379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08"/>
                </a:lnSpc>
                <a:spcBef>
                  <a:spcPct val="0"/>
                </a:spcBef>
              </a:pPr>
              <a:r>
                <a:rPr lang="en-US" b="true" sz="2008">
                  <a:solidFill>
                    <a:srgbClr val="FEFEF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KEY ACTIVITIES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623629" y="3997878"/>
              <a:ext cx="3689960" cy="379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08"/>
                </a:lnSpc>
                <a:spcBef>
                  <a:spcPct val="0"/>
                </a:spcBef>
              </a:pPr>
              <a:r>
                <a:rPr lang="en-US" b="true" sz="2008">
                  <a:solidFill>
                    <a:srgbClr val="FEFEF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KEY RESOURCES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8762160" y="25009"/>
              <a:ext cx="4159196" cy="6960002"/>
              <a:chOff x="0" y="0"/>
              <a:chExt cx="498078" cy="83348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98078" cy="833484"/>
              </a:xfrm>
              <a:custGeom>
                <a:avLst/>
                <a:gdLst/>
                <a:ahLst/>
                <a:cxnLst/>
                <a:rect r="r" b="b" t="t" l="l"/>
                <a:pathLst>
                  <a:path h="833484" w="498078">
                    <a:moveTo>
                      <a:pt x="0" y="0"/>
                    </a:moveTo>
                    <a:lnTo>
                      <a:pt x="498078" y="0"/>
                    </a:lnTo>
                    <a:lnTo>
                      <a:pt x="498078" y="833484"/>
                    </a:lnTo>
                    <a:lnTo>
                      <a:pt x="0" y="8334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498078" cy="814434"/>
              </a:xfrm>
              <a:prstGeom prst="rect">
                <a:avLst/>
              </a:prstGeom>
            </p:spPr>
            <p:txBody>
              <a:bodyPr anchor="ctr" rtlCol="false" tIns="49906" lIns="49906" bIns="49906" rIns="49906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8915194" y="196229"/>
              <a:ext cx="3853128" cy="6617561"/>
              <a:chOff x="0" y="0"/>
              <a:chExt cx="461425" cy="79247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61425" cy="792475"/>
              </a:xfrm>
              <a:custGeom>
                <a:avLst/>
                <a:gdLst/>
                <a:ahLst/>
                <a:cxnLst/>
                <a:rect r="r" b="b" t="t" l="l"/>
                <a:pathLst>
                  <a:path h="792475" w="461425">
                    <a:moveTo>
                      <a:pt x="0" y="0"/>
                    </a:moveTo>
                    <a:lnTo>
                      <a:pt x="461425" y="0"/>
                    </a:lnTo>
                    <a:lnTo>
                      <a:pt x="461425" y="792475"/>
                    </a:lnTo>
                    <a:lnTo>
                      <a:pt x="0" y="79247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38100" cap="sq">
                <a:solidFill>
                  <a:srgbClr val="19486A">
                    <a:alpha val="73725"/>
                  </a:srgbClr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66675"/>
                <a:ext cx="461425" cy="859150"/>
              </a:xfrm>
              <a:prstGeom prst="rect">
                <a:avLst/>
              </a:prstGeom>
            </p:spPr>
            <p:txBody>
              <a:bodyPr anchor="ctr" rtlCol="false" tIns="49906" lIns="49906" bIns="49906" rIns="49906"/>
              <a:lstStyle/>
              <a:p>
                <a:pPr algn="l" marL="294440" indent="-147220" lvl="1">
                  <a:lnSpc>
                    <a:spcPts val="2113"/>
                  </a:lnSpc>
                  <a:buFont typeface="Arial"/>
                  <a:buChar char="•"/>
                </a:pPr>
                <a:r>
                  <a:rPr lang="en-US" sz="1363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IMPROVED MEDICATION ADHERENCE &amp; SAFETY</a:t>
                </a:r>
              </a:p>
              <a:p>
                <a:pPr algn="l" marL="294440" indent="-147220" lvl="1">
                  <a:lnSpc>
                    <a:spcPts val="2113"/>
                  </a:lnSpc>
                  <a:buFont typeface="Arial"/>
                  <a:buChar char="•"/>
                </a:pPr>
                <a:r>
                  <a:rPr lang="en-US" sz="1363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AUTOMATED AND SECURE PILL DISPENSING</a:t>
                </a:r>
              </a:p>
              <a:p>
                <a:pPr algn="l" marL="294440" indent="-147220" lvl="1">
                  <a:lnSpc>
                    <a:spcPts val="2113"/>
                  </a:lnSpc>
                  <a:buFont typeface="Arial"/>
                  <a:buChar char="•"/>
                </a:pPr>
                <a:r>
                  <a:rPr lang="en-US" sz="1363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REA</a:t>
                </a:r>
                <a:r>
                  <a:rPr lang="en-US" sz="1363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L-TIME CAREGIVER MONITORING</a:t>
                </a:r>
              </a:p>
              <a:p>
                <a:pPr algn="l" marL="294440" indent="-147220" lvl="1">
                  <a:lnSpc>
                    <a:spcPts val="2113"/>
                  </a:lnSpc>
                  <a:buFont typeface="Arial"/>
                  <a:buChar char="•"/>
                </a:pPr>
                <a:r>
                  <a:rPr lang="en-US" sz="1363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SIMPLE REFILL &amp; EASY MAINTENANCE</a:t>
                </a:r>
              </a:p>
              <a:p>
                <a:pPr algn="l" marL="294440" indent="-147220" lvl="1">
                  <a:lnSpc>
                    <a:spcPts val="2113"/>
                  </a:lnSpc>
                  <a:buFont typeface="Arial"/>
                  <a:buChar char="•"/>
                </a:pPr>
                <a:r>
                  <a:rPr lang="en-US" sz="1363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AFFORDABLE AND ETHICAL SOLUTION</a:t>
                </a:r>
              </a:p>
              <a:p>
                <a:pPr algn="l">
                  <a:lnSpc>
                    <a:spcPts val="1363"/>
                  </a:lnSpc>
                </a:pPr>
              </a:p>
              <a:p>
                <a:pPr algn="l" marL="0" indent="0" lvl="0">
                  <a:lnSpc>
                    <a:spcPts val="136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9078390" y="403411"/>
              <a:ext cx="3504021" cy="709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08"/>
                </a:lnSpc>
                <a:spcBef>
                  <a:spcPct val="0"/>
                </a:spcBef>
              </a:pPr>
              <a:r>
                <a:rPr lang="en-US" b="true" sz="2008">
                  <a:solidFill>
                    <a:srgbClr val="FEFEF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VALUE PROPOSITIONS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13125847" y="11737"/>
              <a:ext cx="4139514" cy="3609138"/>
              <a:chOff x="0" y="0"/>
              <a:chExt cx="491767" cy="428759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91767" cy="428759"/>
              </a:xfrm>
              <a:custGeom>
                <a:avLst/>
                <a:gdLst/>
                <a:ahLst/>
                <a:cxnLst/>
                <a:rect r="r" b="b" t="t" l="l"/>
                <a:pathLst>
                  <a:path h="428759" w="491767">
                    <a:moveTo>
                      <a:pt x="0" y="0"/>
                    </a:moveTo>
                    <a:lnTo>
                      <a:pt x="491767" y="0"/>
                    </a:lnTo>
                    <a:lnTo>
                      <a:pt x="491767" y="428759"/>
                    </a:lnTo>
                    <a:lnTo>
                      <a:pt x="0" y="42875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19050"/>
                <a:ext cx="491767" cy="409709"/>
              </a:xfrm>
              <a:prstGeom prst="rect">
                <a:avLst/>
              </a:prstGeom>
            </p:spPr>
            <p:txBody>
              <a:bodyPr anchor="ctr" rtlCol="false" tIns="50307" lIns="50307" bIns="50307" rIns="50307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3279687" y="169294"/>
              <a:ext cx="3802760" cy="3295932"/>
              <a:chOff x="0" y="0"/>
              <a:chExt cx="451761" cy="39155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51761" cy="391551"/>
              </a:xfrm>
              <a:custGeom>
                <a:avLst/>
                <a:gdLst/>
                <a:ahLst/>
                <a:cxnLst/>
                <a:rect r="r" b="b" t="t" l="l"/>
                <a:pathLst>
                  <a:path h="391551" w="451761">
                    <a:moveTo>
                      <a:pt x="0" y="0"/>
                    </a:moveTo>
                    <a:lnTo>
                      <a:pt x="451761" y="0"/>
                    </a:lnTo>
                    <a:lnTo>
                      <a:pt x="451761" y="391551"/>
                    </a:lnTo>
                    <a:lnTo>
                      <a:pt x="0" y="39155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38100" cap="sq">
                <a:solidFill>
                  <a:srgbClr val="19486A">
                    <a:alpha val="73725"/>
                  </a:srgbClr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9525"/>
                <a:ext cx="451761" cy="382026"/>
              </a:xfrm>
              <a:prstGeom prst="rect">
                <a:avLst/>
              </a:prstGeom>
            </p:spPr>
            <p:txBody>
              <a:bodyPr anchor="ctr" rtlCol="false" tIns="50307" lIns="50307" bIns="50307" rIns="50307"/>
              <a:lstStyle/>
              <a:p>
                <a:pPr algn="l">
                  <a:lnSpc>
                    <a:spcPts val="1299"/>
                  </a:lnSpc>
                </a:pPr>
              </a:p>
              <a:p>
                <a:pPr algn="l">
                  <a:lnSpc>
                    <a:spcPts val="1299"/>
                  </a:lnSpc>
                </a:pPr>
              </a:p>
              <a:p>
                <a:pPr algn="l">
                  <a:lnSpc>
                    <a:spcPts val="1299"/>
                  </a:lnSpc>
                </a:pPr>
              </a:p>
              <a:p>
                <a:pPr algn="l" marL="280668" indent="-140334" lvl="1">
                  <a:lnSpc>
                    <a:spcPts val="1299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PERSONALIZED ONBOARDING &amp; SUPPORT</a:t>
                </a:r>
              </a:p>
              <a:p>
                <a:pPr algn="l" marL="280668" indent="-140334" lvl="1">
                  <a:lnSpc>
                    <a:spcPts val="1299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MOBILE APP &amp; WEB ACCESS</a:t>
                </a:r>
              </a:p>
              <a:p>
                <a:pPr algn="l" marL="280668" indent="-140334" lvl="1">
                  <a:lnSpc>
                    <a:spcPts val="1299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CAREGIVER AND HEALTHCARE PROFESSIONAL ACCESS</a:t>
                </a:r>
              </a:p>
              <a:p>
                <a:pPr algn="l" marL="280668" indent="-140334" lvl="1">
                  <a:lnSpc>
                    <a:spcPts val="1299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C</a:t>
                </a: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OMMUNITY AWARENESS &amp; ENGAGEMENT</a:t>
                </a: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3247552" y="326672"/>
              <a:ext cx="3658546" cy="754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23"/>
                </a:lnSpc>
                <a:spcBef>
                  <a:spcPct val="0"/>
                </a:spcBef>
              </a:pPr>
              <a:r>
                <a:rPr lang="en-US" b="true" sz="2123">
                  <a:solidFill>
                    <a:srgbClr val="FEFEF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CUSTOMER RELATIONSHIP</a:t>
              </a:r>
            </a:p>
          </p:txBody>
        </p:sp>
        <p:grpSp>
          <p:nvGrpSpPr>
            <p:cNvPr name="Group 47" id="47"/>
            <p:cNvGrpSpPr/>
            <p:nvPr/>
          </p:nvGrpSpPr>
          <p:grpSpPr>
            <a:xfrm rot="0">
              <a:off x="13125847" y="3709758"/>
              <a:ext cx="4159196" cy="3261982"/>
              <a:chOff x="0" y="0"/>
              <a:chExt cx="520730" cy="40839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20730" cy="408399"/>
              </a:xfrm>
              <a:custGeom>
                <a:avLst/>
                <a:gdLst/>
                <a:ahLst/>
                <a:cxnLst/>
                <a:rect r="r" b="b" t="t" l="l"/>
                <a:pathLst>
                  <a:path h="408399" w="520730">
                    <a:moveTo>
                      <a:pt x="0" y="0"/>
                    </a:moveTo>
                    <a:lnTo>
                      <a:pt x="520730" y="0"/>
                    </a:lnTo>
                    <a:lnTo>
                      <a:pt x="520730" y="408399"/>
                    </a:lnTo>
                    <a:lnTo>
                      <a:pt x="0" y="40839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19050"/>
                <a:ext cx="520730" cy="389349"/>
              </a:xfrm>
              <a:prstGeom prst="rect">
                <a:avLst/>
              </a:prstGeom>
            </p:spPr>
            <p:txBody>
              <a:bodyPr anchor="ctr" rtlCol="false" tIns="47735" lIns="47735" bIns="47735" rIns="47735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13278881" y="3878012"/>
              <a:ext cx="3853128" cy="2944338"/>
              <a:chOff x="0" y="0"/>
              <a:chExt cx="482411" cy="36863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482411" cy="368630"/>
              </a:xfrm>
              <a:custGeom>
                <a:avLst/>
                <a:gdLst/>
                <a:ahLst/>
                <a:cxnLst/>
                <a:rect r="r" b="b" t="t" l="l"/>
                <a:pathLst>
                  <a:path h="368630" w="482411">
                    <a:moveTo>
                      <a:pt x="0" y="0"/>
                    </a:moveTo>
                    <a:lnTo>
                      <a:pt x="482411" y="0"/>
                    </a:lnTo>
                    <a:lnTo>
                      <a:pt x="482411" y="368630"/>
                    </a:lnTo>
                    <a:lnTo>
                      <a:pt x="0" y="36863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38100" cap="sq">
                <a:solidFill>
                  <a:srgbClr val="19486A">
                    <a:alpha val="73725"/>
                  </a:srgbClr>
                </a:solidFill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9525"/>
                <a:ext cx="482411" cy="359105"/>
              </a:xfrm>
              <a:prstGeom prst="rect">
                <a:avLst/>
              </a:prstGeom>
            </p:spPr>
            <p:txBody>
              <a:bodyPr anchor="ctr" rtlCol="false" tIns="47735" lIns="47735" bIns="47735" rIns="47735"/>
              <a:lstStyle/>
              <a:p>
                <a:pPr algn="l">
                  <a:lnSpc>
                    <a:spcPts val="1299"/>
                  </a:lnSpc>
                </a:pPr>
              </a:p>
              <a:p>
                <a:pPr algn="l">
                  <a:lnSpc>
                    <a:spcPts val="1299"/>
                  </a:lnSpc>
                </a:pPr>
              </a:p>
              <a:p>
                <a:pPr algn="l" marL="280669" indent="-140335" lvl="1">
                  <a:lnSpc>
                    <a:spcPts val="1299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PARTN</a:t>
                </a: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ER PHARMACIES &amp; CLINICS</a:t>
                </a:r>
              </a:p>
              <a:p>
                <a:pPr algn="l" marL="280669" indent="-140335" lvl="1">
                  <a:lnSpc>
                    <a:spcPts val="1299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ONLINE PLATFORM (WEBSITE &amp; APP)</a:t>
                </a:r>
              </a:p>
              <a:p>
                <a:pPr algn="l" marL="280669" indent="-140335" lvl="1">
                  <a:lnSpc>
                    <a:spcPts val="1299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NGOS &amp; SOCIAL PROGRAMS</a:t>
                </a:r>
              </a:p>
              <a:p>
                <a:pPr algn="l" marL="280669" indent="-140335" lvl="1">
                  <a:lnSpc>
                    <a:spcPts val="1299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HEALTH EVENTS &amp; DIGITAL CAMPAIGNS</a:t>
                </a: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13278881" y="3997878"/>
              <a:ext cx="3675941" cy="379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15"/>
                </a:lnSpc>
                <a:spcBef>
                  <a:spcPct val="0"/>
                </a:spcBef>
              </a:pPr>
              <a:r>
                <a:rPr lang="en-US" b="true" sz="2015">
                  <a:solidFill>
                    <a:srgbClr val="FEFEF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CHANNELS</a:t>
              </a:r>
            </a:p>
          </p:txBody>
        </p:sp>
        <p:grpSp>
          <p:nvGrpSpPr>
            <p:cNvPr name="Group 54" id="54"/>
            <p:cNvGrpSpPr/>
            <p:nvPr/>
          </p:nvGrpSpPr>
          <p:grpSpPr>
            <a:xfrm rot="0">
              <a:off x="17489535" y="0"/>
              <a:ext cx="4151265" cy="6946731"/>
              <a:chOff x="0" y="0"/>
              <a:chExt cx="498078" cy="83348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498078" cy="833484"/>
              </a:xfrm>
              <a:custGeom>
                <a:avLst/>
                <a:gdLst/>
                <a:ahLst/>
                <a:cxnLst/>
                <a:rect r="r" b="b" t="t" l="l"/>
                <a:pathLst>
                  <a:path h="833484" w="498078">
                    <a:moveTo>
                      <a:pt x="0" y="0"/>
                    </a:moveTo>
                    <a:lnTo>
                      <a:pt x="498078" y="0"/>
                    </a:lnTo>
                    <a:lnTo>
                      <a:pt x="498078" y="833484"/>
                    </a:lnTo>
                    <a:lnTo>
                      <a:pt x="0" y="833484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19050"/>
                <a:ext cx="498078" cy="814434"/>
              </a:xfrm>
              <a:prstGeom prst="rect">
                <a:avLst/>
              </a:prstGeom>
            </p:spPr>
            <p:txBody>
              <a:bodyPr anchor="ctr" rtlCol="false" tIns="49811" lIns="49811" bIns="49811" rIns="49811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642277" y="170894"/>
              <a:ext cx="3845781" cy="6604943"/>
              <a:chOff x="0" y="0"/>
              <a:chExt cx="461425" cy="792475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461425" cy="792475"/>
              </a:xfrm>
              <a:custGeom>
                <a:avLst/>
                <a:gdLst/>
                <a:ahLst/>
                <a:cxnLst/>
                <a:rect r="r" b="b" t="t" l="l"/>
                <a:pathLst>
                  <a:path h="792475" w="461425">
                    <a:moveTo>
                      <a:pt x="0" y="0"/>
                    </a:moveTo>
                    <a:lnTo>
                      <a:pt x="461425" y="0"/>
                    </a:lnTo>
                    <a:lnTo>
                      <a:pt x="461425" y="792475"/>
                    </a:lnTo>
                    <a:lnTo>
                      <a:pt x="0" y="79247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38100" cap="sq">
                <a:solidFill>
                  <a:srgbClr val="19486A">
                    <a:alpha val="73725"/>
                  </a:srgbClr>
                </a:solidFill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114300"/>
                <a:ext cx="461425" cy="906775"/>
              </a:xfrm>
              <a:prstGeom prst="rect">
                <a:avLst/>
              </a:prstGeom>
            </p:spPr>
            <p:txBody>
              <a:bodyPr anchor="ctr" rtlCol="false" tIns="49811" lIns="49811" bIns="49811" rIns="49811"/>
              <a:lstStyle/>
              <a:p>
                <a:pPr algn="l" marL="294440" indent="-147220" lvl="1">
                  <a:lnSpc>
                    <a:spcPts val="2632"/>
                  </a:lnSpc>
                  <a:buFont typeface="Arial"/>
                  <a:buChar char="•"/>
                </a:pPr>
                <a:r>
                  <a:rPr lang="en-US" sz="1363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ELDERLY &amp; CHRONIC PATIENTS</a:t>
                </a:r>
              </a:p>
              <a:p>
                <a:pPr algn="l" marL="294440" indent="-147220" lvl="1">
                  <a:lnSpc>
                    <a:spcPts val="2632"/>
                  </a:lnSpc>
                  <a:buFont typeface="Arial"/>
                  <a:buChar char="•"/>
                </a:pPr>
                <a:r>
                  <a:rPr lang="en-US" sz="1363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FAMILY CAREGIVERS</a:t>
                </a:r>
              </a:p>
              <a:p>
                <a:pPr algn="l" marL="294440" indent="-147220" lvl="1">
                  <a:lnSpc>
                    <a:spcPts val="2632"/>
                  </a:lnSpc>
                  <a:buFont typeface="Arial"/>
                  <a:buChar char="•"/>
                </a:pPr>
                <a:r>
                  <a:rPr lang="en-US" sz="1363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CLINICS &amp; HOSPITALS</a:t>
                </a:r>
              </a:p>
              <a:p>
                <a:pPr algn="l" marL="294440" indent="-147220" lvl="1">
                  <a:lnSpc>
                    <a:spcPts val="2632"/>
                  </a:lnSpc>
                  <a:buFont typeface="Arial"/>
                  <a:buChar char="•"/>
                </a:pPr>
                <a:r>
                  <a:rPr lang="en-US" sz="1363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HEALTH-FOCUSED NGOS</a:t>
                </a:r>
              </a:p>
              <a:p>
                <a:pPr algn="l" marL="294440" indent="-147220" lvl="1">
                  <a:lnSpc>
                    <a:spcPts val="2632"/>
                  </a:lnSpc>
                  <a:buFont typeface="Arial"/>
                  <a:buChar char="•"/>
                </a:pPr>
                <a:r>
                  <a:rPr lang="en-US" sz="1363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EMERGING MARKETS</a:t>
                </a:r>
              </a:p>
              <a:p>
                <a:pPr algn="l">
                  <a:lnSpc>
                    <a:spcPts val="1704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17816498" y="411657"/>
              <a:ext cx="3497340" cy="709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04"/>
                </a:lnSpc>
                <a:spcBef>
                  <a:spcPct val="0"/>
                </a:spcBef>
              </a:pPr>
              <a:r>
                <a:rPr lang="en-US" b="true" sz="2004">
                  <a:solidFill>
                    <a:srgbClr val="FEFEF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CUSTOMER SEGMENTS</a:t>
              </a:r>
            </a:p>
          </p:txBody>
        </p:sp>
        <p:grpSp>
          <p:nvGrpSpPr>
            <p:cNvPr name="Group 61" id="61"/>
            <p:cNvGrpSpPr/>
            <p:nvPr/>
          </p:nvGrpSpPr>
          <p:grpSpPr>
            <a:xfrm rot="0">
              <a:off x="238419" y="169294"/>
              <a:ext cx="3699691" cy="6657115"/>
              <a:chOff x="0" y="0"/>
              <a:chExt cx="464686" cy="836142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464686" cy="836142"/>
              </a:xfrm>
              <a:custGeom>
                <a:avLst/>
                <a:gdLst/>
                <a:ahLst/>
                <a:cxnLst/>
                <a:rect r="r" b="b" t="t" l="l"/>
                <a:pathLst>
                  <a:path h="836142" w="464686">
                    <a:moveTo>
                      <a:pt x="0" y="0"/>
                    </a:moveTo>
                    <a:lnTo>
                      <a:pt x="464686" y="0"/>
                    </a:lnTo>
                    <a:lnTo>
                      <a:pt x="464686" y="836142"/>
                    </a:lnTo>
                    <a:lnTo>
                      <a:pt x="0" y="836142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38100" cap="sq">
                <a:solidFill>
                  <a:srgbClr val="19486A">
                    <a:alpha val="73725"/>
                  </a:srgbClr>
                </a:solidFill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0"/>
                <a:ext cx="464686" cy="836142"/>
              </a:xfrm>
              <a:prstGeom prst="rect">
                <a:avLst/>
              </a:prstGeom>
            </p:spPr>
            <p:txBody>
              <a:bodyPr anchor="ctr" rtlCol="false" tIns="47583" lIns="47583" bIns="47583" rIns="47583"/>
              <a:lstStyle/>
              <a:p>
                <a:pPr algn="l">
                  <a:lnSpc>
                    <a:spcPts val="1300"/>
                  </a:lnSpc>
                </a:pPr>
              </a:p>
              <a:p>
                <a:pPr algn="l" marL="280671" indent="-140336" lvl="1">
                  <a:lnSpc>
                    <a:spcPts val="2509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HE</a:t>
                </a: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ALTHCARE PROVIDERS</a:t>
                </a: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 AND PHARMACIES</a:t>
                </a:r>
              </a:p>
              <a:p>
                <a:pPr algn="l" marL="280671" indent="-140336" lvl="1">
                  <a:lnSpc>
                    <a:spcPts val="2509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GOVERNMEN</a:t>
                </a: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T HEALTH AGENCIES</a:t>
                </a:r>
              </a:p>
              <a:p>
                <a:pPr algn="l" marL="280671" indent="-140336" lvl="1">
                  <a:lnSpc>
                    <a:spcPts val="2509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LOCAL AND INTERNATIONAL ACCELERATORS</a:t>
                </a:r>
              </a:p>
              <a:p>
                <a:pPr algn="l" marL="280671" indent="-140336" lvl="1">
                  <a:lnSpc>
                    <a:spcPts val="2509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HARDWARE SUPPLI</a:t>
                </a: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ERS</a:t>
                </a:r>
              </a:p>
              <a:p>
                <a:pPr algn="l" marL="280671" indent="-140336" lvl="1">
                  <a:lnSpc>
                    <a:spcPts val="2509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A</a:t>
                </a: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CADEMIC INSTITUTIONS</a:t>
                </a:r>
              </a:p>
              <a:p>
                <a:pPr algn="l" marL="280671" indent="-140336" lvl="1">
                  <a:lnSpc>
                    <a:spcPts val="2509"/>
                  </a:lnSpc>
                  <a:buFont typeface="Arial"/>
                  <a:buChar char="•"/>
                </a:pPr>
                <a:r>
                  <a:rPr lang="en-US" sz="1300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NGOS</a:t>
                </a:r>
              </a:p>
              <a:p>
                <a:pPr algn="l">
                  <a:lnSpc>
                    <a:spcPts val="250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204826" y="310435"/>
              <a:ext cx="3517384" cy="379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010"/>
                </a:lnSpc>
                <a:spcBef>
                  <a:spcPct val="0"/>
                </a:spcBef>
              </a:pPr>
              <a:r>
                <a:rPr lang="en-US" b="true" sz="2010">
                  <a:solidFill>
                    <a:srgbClr val="FEFEF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KEY PARTNERS</a:t>
              </a:r>
            </a:p>
          </p:txBody>
        </p:sp>
        <p:grpSp>
          <p:nvGrpSpPr>
            <p:cNvPr name="Group 65" id="65"/>
            <p:cNvGrpSpPr/>
            <p:nvPr/>
          </p:nvGrpSpPr>
          <p:grpSpPr>
            <a:xfrm rot="0">
              <a:off x="10373951" y="7260600"/>
              <a:ext cx="11102859" cy="2468583"/>
              <a:chOff x="0" y="0"/>
              <a:chExt cx="1390076" cy="309066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390076" cy="309066"/>
              </a:xfrm>
              <a:custGeom>
                <a:avLst/>
                <a:gdLst/>
                <a:ahLst/>
                <a:cxnLst/>
                <a:rect r="r" b="b" t="t" l="l"/>
                <a:pathLst>
                  <a:path h="309066" w="1390076">
                    <a:moveTo>
                      <a:pt x="0" y="0"/>
                    </a:moveTo>
                    <a:lnTo>
                      <a:pt x="1390076" y="0"/>
                    </a:lnTo>
                    <a:lnTo>
                      <a:pt x="1390076" y="309066"/>
                    </a:lnTo>
                    <a:lnTo>
                      <a:pt x="0" y="30906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38100" cap="sq">
                <a:solidFill>
                  <a:srgbClr val="19486A">
                    <a:alpha val="73725"/>
                  </a:srgbClr>
                </a:solidFill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9525"/>
                <a:ext cx="1390076" cy="299541"/>
              </a:xfrm>
              <a:prstGeom prst="rect">
                <a:avLst/>
              </a:prstGeom>
            </p:spPr>
            <p:txBody>
              <a:bodyPr anchor="ctr" rtlCol="false" tIns="47735" lIns="47735" bIns="47735" rIns="47735"/>
              <a:lstStyle/>
              <a:p>
                <a:pPr algn="l">
                  <a:lnSpc>
                    <a:spcPts val="1299"/>
                  </a:lnSpc>
                </a:pPr>
              </a:p>
              <a:p>
                <a:pPr algn="l">
                  <a:lnSpc>
                    <a:spcPts val="1299"/>
                  </a:lnSpc>
                </a:pPr>
              </a:p>
              <a:p>
                <a:pPr algn="l" marL="280669" indent="-140335" lvl="1">
                  <a:lnSpc>
                    <a:spcPts val="1520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D</a:t>
                </a: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EVICE SALES</a:t>
                </a:r>
              </a:p>
              <a:p>
                <a:pPr algn="l" marL="280669" indent="-140335" lvl="1">
                  <a:lnSpc>
                    <a:spcPts val="1520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SUBSCRIPTION FEES (MONITORING &amp; APP)</a:t>
                </a:r>
              </a:p>
              <a:p>
                <a:pPr algn="l" marL="280669" indent="-140335" lvl="1">
                  <a:lnSpc>
                    <a:spcPts val="1520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B2B &amp; B2G PARTNERSHIPS</a:t>
                </a:r>
              </a:p>
              <a:p>
                <a:pPr algn="l" marL="280669" indent="-140335" lvl="1">
                  <a:lnSpc>
                    <a:spcPts val="1520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SERVICE PACKAGES</a:t>
                </a:r>
              </a:p>
              <a:p>
                <a:pPr algn="l" marL="280669" indent="-140335" lvl="1">
                  <a:lnSpc>
                    <a:spcPts val="1520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GRANTS &amp; PILOT FUNDING</a:t>
                </a:r>
              </a:p>
            </p:txBody>
          </p:sp>
        </p:grpSp>
        <p:sp>
          <p:nvSpPr>
            <p:cNvPr name="TextBox 68" id="68"/>
            <p:cNvSpPr txBox="true"/>
            <p:nvPr/>
          </p:nvSpPr>
          <p:spPr>
            <a:xfrm rot="0">
              <a:off x="11012693" y="7448510"/>
              <a:ext cx="9825374" cy="399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b="true" sz="2132">
                  <a:solidFill>
                    <a:srgbClr val="FEFEF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REVE</a:t>
              </a:r>
              <a:r>
                <a:rPr lang="en-US" b="true" sz="2132" strike="noStrike" u="none">
                  <a:solidFill>
                    <a:srgbClr val="FEFEF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NUE STREAMS:</a:t>
              </a:r>
            </a:p>
          </p:txBody>
        </p:sp>
        <p:grpSp>
          <p:nvGrpSpPr>
            <p:cNvPr name="Group 69" id="69"/>
            <p:cNvGrpSpPr/>
            <p:nvPr/>
          </p:nvGrpSpPr>
          <p:grpSpPr>
            <a:xfrm rot="0">
              <a:off x="125545" y="7260600"/>
              <a:ext cx="9780708" cy="2468583"/>
              <a:chOff x="0" y="0"/>
              <a:chExt cx="1224542" cy="309066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224543" cy="309066"/>
              </a:xfrm>
              <a:custGeom>
                <a:avLst/>
                <a:gdLst/>
                <a:ahLst/>
                <a:cxnLst/>
                <a:rect r="r" b="b" t="t" l="l"/>
                <a:pathLst>
                  <a:path h="309066" w="1224543">
                    <a:moveTo>
                      <a:pt x="0" y="0"/>
                    </a:moveTo>
                    <a:lnTo>
                      <a:pt x="1224543" y="0"/>
                    </a:lnTo>
                    <a:lnTo>
                      <a:pt x="1224543" y="309066"/>
                    </a:lnTo>
                    <a:lnTo>
                      <a:pt x="0" y="309066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1834">
                      <a:alpha val="74000"/>
                    </a:srgbClr>
                  </a:gs>
                  <a:gs pos="33333">
                    <a:srgbClr val="220239">
                      <a:alpha val="74000"/>
                    </a:srgbClr>
                  </a:gs>
                  <a:gs pos="66667">
                    <a:srgbClr val="490326">
                      <a:alpha val="74000"/>
                    </a:srgbClr>
                  </a:gs>
                  <a:gs pos="100000">
                    <a:srgbClr val="300202">
                      <a:alpha val="7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w="38100" cap="sq">
                <a:solidFill>
                  <a:srgbClr val="19486A">
                    <a:alpha val="73725"/>
                  </a:srgbClr>
                </a:solidFill>
                <a:prstDash val="solid"/>
                <a:miter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9525"/>
                <a:ext cx="1224542" cy="299541"/>
              </a:xfrm>
              <a:prstGeom prst="rect">
                <a:avLst/>
              </a:prstGeom>
            </p:spPr>
            <p:txBody>
              <a:bodyPr anchor="ctr" rtlCol="false" tIns="47735" lIns="47735" bIns="47735" rIns="47735"/>
              <a:lstStyle/>
              <a:p>
                <a:pPr algn="l">
                  <a:lnSpc>
                    <a:spcPts val="1299"/>
                  </a:lnSpc>
                </a:pPr>
              </a:p>
              <a:p>
                <a:pPr algn="l">
                  <a:lnSpc>
                    <a:spcPts val="1299"/>
                  </a:lnSpc>
                </a:pPr>
              </a:p>
              <a:p>
                <a:pPr algn="l" marL="280669" indent="-140335" lvl="1">
                  <a:lnSpc>
                    <a:spcPts val="1520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HARDWA</a:t>
                </a: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RE PRODUCTION</a:t>
                </a:r>
              </a:p>
              <a:p>
                <a:pPr algn="l" marL="280669" indent="-140335" lvl="1">
                  <a:lnSpc>
                    <a:spcPts val="1520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SOFTWARE &amp; CLOUD MAINTENANCE</a:t>
                </a:r>
              </a:p>
              <a:p>
                <a:pPr algn="l" marL="280669" indent="-140335" lvl="1">
                  <a:lnSpc>
                    <a:spcPts val="1520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CUSTOMER SUPPORT &amp; TRAINING</a:t>
                </a:r>
              </a:p>
              <a:p>
                <a:pPr algn="l" marL="280669" indent="-140335" lvl="1">
                  <a:lnSpc>
                    <a:spcPts val="1520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MARKETING &amp; DISTRIBUTION</a:t>
                </a:r>
              </a:p>
              <a:p>
                <a:pPr algn="l" marL="280669" indent="-140335" lvl="1">
                  <a:lnSpc>
                    <a:spcPts val="1520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CERTIFICATION &amp; COMPLIANCE</a:t>
                </a:r>
              </a:p>
              <a:p>
                <a:pPr algn="l" marL="280669" indent="-140335" lvl="1">
                  <a:lnSpc>
                    <a:spcPts val="1520"/>
                  </a:lnSpc>
                  <a:buFont typeface="Arial"/>
                  <a:buChar char="•"/>
                </a:pPr>
                <a:r>
                  <a:rPr lang="en-US" sz="1299">
                    <a:solidFill>
                      <a:srgbClr val="FEFEFE">
                        <a:alpha val="73725"/>
                      </a:srgbClr>
                    </a:solidFill>
                    <a:latin typeface="Arimo"/>
                    <a:ea typeface="Arimo"/>
                    <a:cs typeface="Arimo"/>
                    <a:sym typeface="Arimo"/>
                  </a:rPr>
                  <a:t>R&amp;D</a:t>
                </a:r>
              </a:p>
            </p:txBody>
          </p:sp>
        </p:grpSp>
        <p:sp>
          <p:nvSpPr>
            <p:cNvPr name="TextBox 72" id="72"/>
            <p:cNvSpPr txBox="true"/>
            <p:nvPr/>
          </p:nvSpPr>
          <p:spPr>
            <a:xfrm rot="0">
              <a:off x="722831" y="7435883"/>
              <a:ext cx="8594154" cy="399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b="true" sz="2132">
                  <a:solidFill>
                    <a:srgbClr val="FEFEF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</a:t>
              </a:r>
              <a:r>
                <a:rPr lang="en-US" b="true" sz="2132" strike="noStrike" u="none">
                  <a:solidFill>
                    <a:srgbClr val="FEFEFE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OST STRUCTURE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7454963" y="9431587"/>
            <a:ext cx="342305" cy="35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835128" y="3152744"/>
            <a:ext cx="6538508" cy="5839981"/>
            <a:chOff x="0" y="0"/>
            <a:chExt cx="8718010" cy="7786641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4"/>
            <a:srcRect l="0" t="4652" r="0" b="4652"/>
            <a:stretch>
              <a:fillRect/>
            </a:stretch>
          </p:blipFill>
          <p:spPr>
            <a:xfrm flipH="false" flipV="false">
              <a:off x="0" y="0"/>
              <a:ext cx="8718010" cy="3829821"/>
            </a:xfrm>
            <a:prstGeom prst="rect">
              <a:avLst/>
            </a:prstGeom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5"/>
            <a:srcRect l="0" t="7292" r="0" b="7292"/>
            <a:stretch>
              <a:fillRect/>
            </a:stretch>
          </p:blipFill>
          <p:spPr>
            <a:xfrm flipH="false" flipV="false">
              <a:off x="0" y="3956821"/>
              <a:ext cx="4295505" cy="3829821"/>
            </a:xfrm>
            <a:prstGeom prst="rect">
              <a:avLst/>
            </a:prstGeom>
          </p:spPr>
        </p:pic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6"/>
            <a:srcRect l="0" t="16789" r="0" b="16789"/>
            <a:stretch>
              <a:fillRect/>
            </a:stretch>
          </p:blipFill>
          <p:spPr>
            <a:xfrm flipH="false" flipV="false">
              <a:off x="4422505" y="3956821"/>
              <a:ext cx="4295505" cy="3829821"/>
            </a:xfrm>
            <a:prstGeom prst="rect">
              <a:avLst/>
            </a:prstGeom>
          </p:spPr>
        </p:pic>
      </p:grpSp>
      <p:sp>
        <p:nvSpPr>
          <p:cNvPr name="Freeform 11" id="11"/>
          <p:cNvSpPr/>
          <p:nvPr/>
        </p:nvSpPr>
        <p:spPr>
          <a:xfrm flipH="false" flipV="false" rot="0">
            <a:off x="2402235" y="2685419"/>
            <a:ext cx="3432894" cy="3448219"/>
          </a:xfrm>
          <a:custGeom>
            <a:avLst/>
            <a:gdLst/>
            <a:ahLst/>
            <a:cxnLst/>
            <a:rect r="r" b="b" t="t" l="l"/>
            <a:pathLst>
              <a:path h="3448219" w="3432894">
                <a:moveTo>
                  <a:pt x="0" y="0"/>
                </a:moveTo>
                <a:lnTo>
                  <a:pt x="3432893" y="0"/>
                </a:lnTo>
                <a:lnTo>
                  <a:pt x="3432893" y="3448219"/>
                </a:lnTo>
                <a:lnTo>
                  <a:pt x="0" y="3448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46891" y="2685419"/>
            <a:ext cx="3252705" cy="3252705"/>
          </a:xfrm>
          <a:custGeom>
            <a:avLst/>
            <a:gdLst/>
            <a:ahLst/>
            <a:cxnLst/>
            <a:rect r="r" b="b" t="t" l="l"/>
            <a:pathLst>
              <a:path h="3252705" w="3252705">
                <a:moveTo>
                  <a:pt x="0" y="0"/>
                </a:moveTo>
                <a:lnTo>
                  <a:pt x="3252705" y="0"/>
                </a:lnTo>
                <a:lnTo>
                  <a:pt x="3252705" y="3252705"/>
                </a:lnTo>
                <a:lnTo>
                  <a:pt x="0" y="32527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06032" y="7060933"/>
            <a:ext cx="4334422" cy="1792683"/>
          </a:xfrm>
          <a:custGeom>
            <a:avLst/>
            <a:gdLst/>
            <a:ahLst/>
            <a:cxnLst/>
            <a:rect r="r" b="b" t="t" l="l"/>
            <a:pathLst>
              <a:path h="1792683" w="4334422">
                <a:moveTo>
                  <a:pt x="0" y="0"/>
                </a:moveTo>
                <a:lnTo>
                  <a:pt x="4334423" y="0"/>
                </a:lnTo>
                <a:lnTo>
                  <a:pt x="4334423" y="1792683"/>
                </a:lnTo>
                <a:lnTo>
                  <a:pt x="0" y="17926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88721" y="6339802"/>
            <a:ext cx="2859921" cy="2918498"/>
          </a:xfrm>
          <a:custGeom>
            <a:avLst/>
            <a:gdLst/>
            <a:ahLst/>
            <a:cxnLst/>
            <a:rect r="r" b="b" t="t" l="l"/>
            <a:pathLst>
              <a:path h="2918498" w="2859921">
                <a:moveTo>
                  <a:pt x="0" y="0"/>
                </a:moveTo>
                <a:lnTo>
                  <a:pt x="2859921" y="0"/>
                </a:lnTo>
                <a:lnTo>
                  <a:pt x="2859921" y="2918498"/>
                </a:lnTo>
                <a:lnTo>
                  <a:pt x="0" y="29184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24623" y="1376316"/>
            <a:ext cx="14586828" cy="118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6"/>
              </a:lnSpc>
            </a:pPr>
            <a:r>
              <a:rPr lang="en-US" sz="4632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COLLABORATION WITH INDUSTRY PARTNERS AND NGO’S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454963" y="9431587"/>
            <a:ext cx="363195" cy="35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8923" y="1414416"/>
            <a:ext cx="14010154" cy="9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8"/>
              </a:lnSpc>
            </a:pPr>
            <a:r>
              <a:rPr lang="en-US" sz="6877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&amp; SDG ALIGNMENT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50661" y="3486075"/>
            <a:ext cx="5074761" cy="5074761"/>
            <a:chOff x="0" y="0"/>
            <a:chExt cx="6766348" cy="67663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83174" cy="3383174"/>
            </a:xfrm>
            <a:custGeom>
              <a:avLst/>
              <a:gdLst/>
              <a:ahLst/>
              <a:cxnLst/>
              <a:rect r="r" b="b" t="t" l="l"/>
              <a:pathLst>
                <a:path h="3383174" w="3383174">
                  <a:moveTo>
                    <a:pt x="0" y="0"/>
                  </a:moveTo>
                  <a:lnTo>
                    <a:pt x="3383174" y="0"/>
                  </a:lnTo>
                  <a:lnTo>
                    <a:pt x="3383174" y="3383174"/>
                  </a:lnTo>
                  <a:lnTo>
                    <a:pt x="0" y="3383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383174" y="0"/>
              <a:ext cx="3383174" cy="3383174"/>
            </a:xfrm>
            <a:custGeom>
              <a:avLst/>
              <a:gdLst/>
              <a:ahLst/>
              <a:cxnLst/>
              <a:rect r="r" b="b" t="t" l="l"/>
              <a:pathLst>
                <a:path h="3383174" w="3383174">
                  <a:moveTo>
                    <a:pt x="0" y="0"/>
                  </a:moveTo>
                  <a:lnTo>
                    <a:pt x="3383174" y="0"/>
                  </a:lnTo>
                  <a:lnTo>
                    <a:pt x="3383174" y="3383174"/>
                  </a:lnTo>
                  <a:lnTo>
                    <a:pt x="0" y="3383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3383174"/>
              <a:ext cx="3383174" cy="3383174"/>
            </a:xfrm>
            <a:custGeom>
              <a:avLst/>
              <a:gdLst/>
              <a:ahLst/>
              <a:cxnLst/>
              <a:rect r="r" b="b" t="t" l="l"/>
              <a:pathLst>
                <a:path h="3383174" w="3383174">
                  <a:moveTo>
                    <a:pt x="0" y="0"/>
                  </a:moveTo>
                  <a:lnTo>
                    <a:pt x="3383174" y="0"/>
                  </a:lnTo>
                  <a:lnTo>
                    <a:pt x="3383174" y="3383174"/>
                  </a:lnTo>
                  <a:lnTo>
                    <a:pt x="0" y="3383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383174" y="3383174"/>
              <a:ext cx="3383174" cy="3383174"/>
            </a:xfrm>
            <a:custGeom>
              <a:avLst/>
              <a:gdLst/>
              <a:ahLst/>
              <a:cxnLst/>
              <a:rect r="r" b="b" t="t" l="l"/>
              <a:pathLst>
                <a:path h="3383174" w="3383174">
                  <a:moveTo>
                    <a:pt x="0" y="0"/>
                  </a:moveTo>
                  <a:lnTo>
                    <a:pt x="3383174" y="0"/>
                  </a:lnTo>
                  <a:lnTo>
                    <a:pt x="3383174" y="3383174"/>
                  </a:lnTo>
                  <a:lnTo>
                    <a:pt x="0" y="3383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995073" y="3314833"/>
            <a:ext cx="3900636" cy="50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7"/>
              </a:lnSpc>
              <a:spcBef>
                <a:spcPct val="0"/>
              </a:spcBef>
            </a:pPr>
            <a:r>
              <a:rPr lang="en-US" b="true" sz="2741" spc="715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IMPACT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16289" y="3314833"/>
            <a:ext cx="4754314" cy="50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7"/>
              </a:lnSpc>
              <a:spcBef>
                <a:spcPct val="0"/>
              </a:spcBef>
            </a:pPr>
            <a:r>
              <a:rPr lang="en-US" b="true" sz="2741" spc="715">
                <a:solidFill>
                  <a:srgbClr val="730F28"/>
                </a:solidFill>
                <a:latin typeface="Poppins Bold"/>
                <a:ea typeface="Poppins Bold"/>
                <a:cs typeface="Poppins Bold"/>
                <a:sym typeface="Poppins Bold"/>
              </a:rPr>
              <a:t>ECONOMIC IMPACT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95073" y="4295700"/>
            <a:ext cx="3992048" cy="399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 spc="2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Healthca</a:t>
            </a:r>
            <a:r>
              <a:rPr lang="en-US" sz="2299" spc="2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 Continuity During Systemic Collapse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 spc="2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Protection of Vulnerable Populations in Instability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 spc="2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Community Resilience Building</a:t>
            </a:r>
          </a:p>
          <a:p>
            <a:pPr algn="l">
              <a:lnSpc>
                <a:spcPts val="321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616289" y="4295700"/>
            <a:ext cx="4288805" cy="321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9124" indent="-249562" lvl="1">
              <a:lnSpc>
                <a:spcPts val="3236"/>
              </a:lnSpc>
              <a:buFont typeface="Arial"/>
              <a:buChar char="•"/>
            </a:pPr>
            <a:r>
              <a:rPr lang="en-US" sz="2311" spc="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311" spc="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ost Containment During Economic Shock</a:t>
            </a:r>
          </a:p>
          <a:p>
            <a:pPr algn="l" marL="499124" indent="-249562" lvl="1">
              <a:lnSpc>
                <a:spcPts val="3236"/>
              </a:lnSpc>
              <a:buFont typeface="Arial"/>
              <a:buChar char="•"/>
            </a:pPr>
            <a:r>
              <a:rPr lang="en-US" sz="2311" spc="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Crisis-Responsive Job Creation</a:t>
            </a:r>
          </a:p>
          <a:p>
            <a:pPr algn="l" marL="499124" indent="-249562" lvl="1">
              <a:lnSpc>
                <a:spcPts val="3236"/>
              </a:lnSpc>
              <a:buFont typeface="Arial"/>
              <a:buChar char="•"/>
            </a:pPr>
            <a:r>
              <a:rPr lang="en-US" sz="2311" spc="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Economic Productivity Preservation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454963" y="9431587"/>
            <a:ext cx="362922" cy="35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12742" y="7545831"/>
            <a:ext cx="1862516" cy="2000750"/>
          </a:xfrm>
          <a:custGeom>
            <a:avLst/>
            <a:gdLst/>
            <a:ahLst/>
            <a:cxnLst/>
            <a:rect r="r" b="b" t="t" l="l"/>
            <a:pathLst>
              <a:path h="2000750" w="1862516">
                <a:moveTo>
                  <a:pt x="0" y="0"/>
                </a:moveTo>
                <a:lnTo>
                  <a:pt x="1862516" y="0"/>
                </a:lnTo>
                <a:lnTo>
                  <a:pt x="1862516" y="2000751"/>
                </a:lnTo>
                <a:lnTo>
                  <a:pt x="0" y="2000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38923" y="1414416"/>
            <a:ext cx="14010154" cy="90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8"/>
              </a:lnSpc>
            </a:pPr>
            <a:r>
              <a:rPr lang="en-US" sz="6877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ETHICS &amp; UTOPIAN VALUES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1305" y="2951041"/>
            <a:ext cx="8062695" cy="3965485"/>
            <a:chOff x="0" y="0"/>
            <a:chExt cx="10750260" cy="528731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601212" y="-85725"/>
              <a:ext cx="9036645" cy="64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37"/>
                </a:lnSpc>
                <a:spcBef>
                  <a:spcPct val="0"/>
                </a:spcBef>
              </a:pPr>
              <a:r>
                <a:rPr lang="en-US" b="true" sz="2741" spc="715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2741" spc="715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Ethi</a:t>
              </a:r>
              <a:r>
                <a:rPr lang="en-US" b="true" sz="2741" spc="715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CAL CONSIDERATIONS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27726"/>
              <a:ext cx="10750260" cy="4659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37" indent="-280669" lvl="1">
                <a:lnSpc>
                  <a:spcPts val="3483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Respect for Elderly Autonomy and Dignity in Systemic Collapse</a:t>
              </a:r>
            </a:p>
            <a:p>
              <a:pPr algn="l" marL="561337" indent="-280669" lvl="1">
                <a:lnSpc>
                  <a:spcPts val="3483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Privacy-by-Design and Secure Data Handling in Fragile Systems</a:t>
              </a:r>
            </a:p>
            <a:p>
              <a:pPr algn="l" marL="561337" indent="-280669" lvl="1">
                <a:lnSpc>
                  <a:spcPts val="3483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Transparent and Responsible Use of AI in Unstable Environments</a:t>
              </a:r>
            </a:p>
            <a:p>
              <a:pPr algn="l" marL="561337" indent="-280669" lvl="1">
                <a:lnSpc>
                  <a:spcPts val="3483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No Intrusive Surveillance or Exploitation in Vulnerable States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2919764"/>
            <a:ext cx="8062695" cy="4447472"/>
            <a:chOff x="0" y="0"/>
            <a:chExt cx="10750260" cy="592996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398556" y="-85725"/>
              <a:ext cx="9283700" cy="640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37"/>
                </a:lnSpc>
                <a:spcBef>
                  <a:spcPct val="0"/>
                </a:spcBef>
              </a:pPr>
              <a:r>
                <a:rPr lang="en-US" b="true" sz="2741" spc="715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2741" spc="715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  <a:r>
                <a:rPr lang="en-US" b="true" sz="2741" spc="715">
                  <a:solidFill>
                    <a:srgbClr val="730F2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OCIAL &amp; UTOPIAN IMPACT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86175"/>
              <a:ext cx="10750260" cy="5243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37" indent="-280669" lvl="1">
                <a:lnSpc>
                  <a:spcPts val="3483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Fair acc</a:t>
              </a: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ess to medication management through affordability</a:t>
              </a:r>
            </a:p>
            <a:p>
              <a:pPr algn="l" marL="561337" indent="-280669" lvl="1">
                <a:lnSpc>
                  <a:spcPts val="3483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Improved Quality of Life for Elderly in Societal Breakdown</a:t>
              </a:r>
            </a:p>
            <a:p>
              <a:pPr algn="l" marL="561337" indent="-280669" lvl="1">
                <a:lnSpc>
                  <a:spcPts val="3483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Reduced caregiver burden and healthcare inequalities</a:t>
              </a:r>
            </a:p>
            <a:p>
              <a:pPr algn="l" marL="561337" indent="-280669" lvl="1">
                <a:lnSpc>
                  <a:spcPts val="3483"/>
                </a:lnSpc>
                <a:buFont typeface="Arial"/>
                <a:buChar char="•"/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Contribution to a More Inclusive and Sustainable Healthcare System in Collapse &amp; Recovery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454963" y="9431587"/>
            <a:ext cx="425321" cy="35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33333">
              <a:srgbClr val="220239">
                <a:alpha val="100000"/>
              </a:srgbClr>
            </a:gs>
            <a:gs pos="66667">
              <a:srgbClr val="490326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6205" y="346123"/>
            <a:ext cx="17475590" cy="9594754"/>
            <a:chOff x="0" y="0"/>
            <a:chExt cx="4701954" cy="25815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1954" cy="2581549"/>
            </a:xfrm>
            <a:custGeom>
              <a:avLst/>
              <a:gdLst/>
              <a:ahLst/>
              <a:cxnLst/>
              <a:rect r="r" b="b" t="t" l="l"/>
              <a:pathLst>
                <a:path h="2581549" w="4701954">
                  <a:moveTo>
                    <a:pt x="0" y="0"/>
                  </a:moveTo>
                  <a:lnTo>
                    <a:pt x="4701954" y="0"/>
                  </a:lnTo>
                  <a:lnTo>
                    <a:pt x="4701954" y="2581549"/>
                  </a:lnTo>
                  <a:lnTo>
                    <a:pt x="0" y="2581549"/>
                  </a:ln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01954" cy="2619649"/>
            </a:xfrm>
            <a:prstGeom prst="rect">
              <a:avLst/>
            </a:prstGeom>
          </p:spPr>
          <p:txBody>
            <a:bodyPr anchor="ctr" rtlCol="false" tIns="49727" lIns="49727" bIns="49727" rIns="49727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471" t="-22569" r="-471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6205" y="346123"/>
            <a:ext cx="17475590" cy="9594754"/>
          </a:xfrm>
          <a:custGeom>
            <a:avLst/>
            <a:gdLst/>
            <a:ahLst/>
            <a:cxnLst/>
            <a:rect r="r" b="b" t="t" l="l"/>
            <a:pathLst>
              <a:path h="9594754" w="17475590">
                <a:moveTo>
                  <a:pt x="0" y="0"/>
                </a:moveTo>
                <a:lnTo>
                  <a:pt x="17475590" y="0"/>
                </a:lnTo>
                <a:lnTo>
                  <a:pt x="17475590" y="9594754"/>
                </a:lnTo>
                <a:lnTo>
                  <a:pt x="0" y="959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</a:blip>
            <a:stretch>
              <a:fillRect l="-45286" t="-197319" r="0" b="-17368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16112" y="3612502"/>
            <a:ext cx="1820229" cy="1370443"/>
          </a:xfrm>
          <a:custGeom>
            <a:avLst/>
            <a:gdLst/>
            <a:ahLst/>
            <a:cxnLst/>
            <a:rect r="r" b="b" t="t" l="l"/>
            <a:pathLst>
              <a:path h="1370443" w="1820229">
                <a:moveTo>
                  <a:pt x="0" y="0"/>
                </a:moveTo>
                <a:lnTo>
                  <a:pt x="1820229" y="0"/>
                </a:lnTo>
                <a:lnTo>
                  <a:pt x="1820229" y="1370443"/>
                </a:lnTo>
                <a:lnTo>
                  <a:pt x="0" y="1370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22563" y="5241454"/>
            <a:ext cx="1369025" cy="1369025"/>
          </a:xfrm>
          <a:custGeom>
            <a:avLst/>
            <a:gdLst/>
            <a:ahLst/>
            <a:cxnLst/>
            <a:rect r="r" b="b" t="t" l="l"/>
            <a:pathLst>
              <a:path h="1369025" w="1369025">
                <a:moveTo>
                  <a:pt x="0" y="0"/>
                </a:moveTo>
                <a:lnTo>
                  <a:pt x="1369024" y="0"/>
                </a:lnTo>
                <a:lnTo>
                  <a:pt x="1369024" y="1369025"/>
                </a:lnTo>
                <a:lnTo>
                  <a:pt x="0" y="1369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08338" y="6987790"/>
            <a:ext cx="2235778" cy="1547409"/>
          </a:xfrm>
          <a:custGeom>
            <a:avLst/>
            <a:gdLst/>
            <a:ahLst/>
            <a:cxnLst/>
            <a:rect r="r" b="b" t="t" l="l"/>
            <a:pathLst>
              <a:path h="1547409" w="2235778">
                <a:moveTo>
                  <a:pt x="0" y="0"/>
                </a:moveTo>
                <a:lnTo>
                  <a:pt x="2235777" y="0"/>
                </a:lnTo>
                <a:lnTo>
                  <a:pt x="2235777" y="1547408"/>
                </a:lnTo>
                <a:lnTo>
                  <a:pt x="0" y="15474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023A83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38923" y="1385841"/>
            <a:ext cx="14010154" cy="70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3"/>
              </a:lnSpc>
            </a:pPr>
            <a:r>
              <a:rPr lang="en-US" sz="5377">
                <a:solidFill>
                  <a:srgbClr val="023A8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&amp; FUTURE PERSPECTIVE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54963" y="9431587"/>
            <a:ext cx="349448" cy="35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  <a:spcBef>
                <a:spcPct val="0"/>
              </a:spcBef>
            </a:pPr>
            <a:r>
              <a:rPr lang="en-US" sz="1941" spc="5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8338" y="3921078"/>
            <a:ext cx="11026181" cy="380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078" indent="-290539" lvl="1">
              <a:lnSpc>
                <a:spcPts val="3767"/>
              </a:lnSpc>
              <a:buFont typeface="Arial"/>
              <a:buChar char="•"/>
            </a:pPr>
            <a:r>
              <a:rPr lang="en-US" sz="2691" spc="7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Integration with medical professionals</a:t>
            </a:r>
          </a:p>
          <a:p>
            <a:pPr algn="l">
              <a:lnSpc>
                <a:spcPts val="3767"/>
              </a:lnSpc>
            </a:pPr>
          </a:p>
          <a:p>
            <a:pPr algn="l" marL="581078" indent="-290539" lvl="1">
              <a:lnSpc>
                <a:spcPts val="3767"/>
              </a:lnSpc>
              <a:buFont typeface="Arial"/>
              <a:buChar char="•"/>
            </a:pPr>
            <a:r>
              <a:rPr lang="en-US" sz="2691" spc="7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Biometric verification</a:t>
            </a:r>
          </a:p>
          <a:p>
            <a:pPr algn="l">
              <a:lnSpc>
                <a:spcPts val="3767"/>
              </a:lnSpc>
            </a:pPr>
          </a:p>
          <a:p>
            <a:pPr algn="l" marL="581078" indent="-290539" lvl="1">
              <a:lnSpc>
                <a:spcPts val="3767"/>
              </a:lnSpc>
              <a:buFont typeface="Arial"/>
              <a:buChar char="•"/>
            </a:pPr>
            <a:r>
              <a:rPr lang="en-US" sz="2691" spc="7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Battery optimization &amp; portability</a:t>
            </a:r>
          </a:p>
          <a:p>
            <a:pPr algn="l">
              <a:lnSpc>
                <a:spcPts val="3767"/>
              </a:lnSpc>
            </a:pPr>
          </a:p>
          <a:p>
            <a:pPr algn="l" marL="581078" indent="-290539" lvl="1">
              <a:lnSpc>
                <a:spcPts val="3767"/>
              </a:lnSpc>
              <a:buFont typeface="Arial"/>
              <a:buChar char="•"/>
            </a:pPr>
            <a:r>
              <a:rPr lang="en-US" sz="2691" spc="77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Regulatory compliance &amp; certification</a:t>
            </a:r>
          </a:p>
          <a:p>
            <a:pPr algn="l">
              <a:lnSpc>
                <a:spcPts val="3767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1834">
                <a:alpha val="100000"/>
              </a:srgbClr>
            </a:gs>
            <a:gs pos="20000">
              <a:srgbClr val="220239">
                <a:alpha val="100000"/>
              </a:srgbClr>
            </a:gs>
            <a:gs pos="40000">
              <a:srgbClr val="490326">
                <a:alpha val="100000"/>
              </a:srgbClr>
            </a:gs>
            <a:gs pos="60000">
              <a:srgbClr val="660505">
                <a:alpha val="100000"/>
              </a:srgbClr>
            </a:gs>
            <a:gs pos="80000">
              <a:srgbClr val="660505">
                <a:alpha val="100000"/>
              </a:srgbClr>
            </a:gs>
            <a:gs pos="100000">
              <a:srgbClr val="3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90525" y="0"/>
            <a:ext cx="15252100" cy="10577390"/>
          </a:xfrm>
          <a:custGeom>
            <a:avLst/>
            <a:gdLst/>
            <a:ahLst/>
            <a:cxnLst/>
            <a:rect r="r" b="b" t="t" l="l"/>
            <a:pathLst>
              <a:path h="10577390" w="15252100">
                <a:moveTo>
                  <a:pt x="0" y="0"/>
                </a:moveTo>
                <a:lnTo>
                  <a:pt x="15252100" y="0"/>
                </a:lnTo>
                <a:lnTo>
                  <a:pt x="15252100" y="10577390"/>
                </a:lnTo>
                <a:lnTo>
                  <a:pt x="0" y="10577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904" t="-13571" r="0" b="-1631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06080" y="1065049"/>
            <a:ext cx="10577390" cy="8229600"/>
          </a:xfrm>
          <a:custGeom>
            <a:avLst/>
            <a:gdLst/>
            <a:ahLst/>
            <a:cxnLst/>
            <a:rect r="r" b="b" t="t" l="l"/>
            <a:pathLst>
              <a:path h="8229600" w="10577390">
                <a:moveTo>
                  <a:pt x="0" y="0"/>
                </a:moveTo>
                <a:lnTo>
                  <a:pt x="10577390" y="0"/>
                </a:lnTo>
                <a:lnTo>
                  <a:pt x="105773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422" r="0" b="-842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51308" y="883505"/>
            <a:ext cx="10577390" cy="8229600"/>
          </a:xfrm>
          <a:custGeom>
            <a:avLst/>
            <a:gdLst/>
            <a:ahLst/>
            <a:cxnLst/>
            <a:rect r="r" b="b" t="t" l="l"/>
            <a:pathLst>
              <a:path h="8229600" w="10577390">
                <a:moveTo>
                  <a:pt x="0" y="0"/>
                </a:moveTo>
                <a:lnTo>
                  <a:pt x="10577391" y="0"/>
                </a:lnTo>
                <a:lnTo>
                  <a:pt x="1057739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3000"/>
            </a:blip>
            <a:stretch>
              <a:fillRect l="0" t="-8422" r="0" b="-842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4659" y="305655"/>
            <a:ext cx="8857916" cy="9694567"/>
          </a:xfrm>
          <a:custGeom>
            <a:avLst/>
            <a:gdLst/>
            <a:ahLst/>
            <a:cxnLst/>
            <a:rect r="r" b="b" t="t" l="l"/>
            <a:pathLst>
              <a:path h="9694567" w="8857916">
                <a:moveTo>
                  <a:pt x="0" y="0"/>
                </a:moveTo>
                <a:lnTo>
                  <a:pt x="8857916" y="0"/>
                </a:lnTo>
                <a:lnTo>
                  <a:pt x="8857916" y="9694567"/>
                </a:lnTo>
                <a:lnTo>
                  <a:pt x="0" y="96945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-8255" t="0" r="-1189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172575" y="305655"/>
            <a:ext cx="8866834" cy="9719813"/>
          </a:xfrm>
          <a:custGeom>
            <a:avLst/>
            <a:gdLst/>
            <a:ahLst/>
            <a:cxnLst/>
            <a:rect r="r" b="b" t="t" l="l"/>
            <a:pathLst>
              <a:path h="9719813" w="8866834">
                <a:moveTo>
                  <a:pt x="8866834" y="0"/>
                </a:moveTo>
                <a:lnTo>
                  <a:pt x="0" y="0"/>
                </a:lnTo>
                <a:lnTo>
                  <a:pt x="0" y="9719813"/>
                </a:lnTo>
                <a:lnTo>
                  <a:pt x="8866834" y="9719813"/>
                </a:lnTo>
                <a:lnTo>
                  <a:pt x="8866834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-8392" t="0" r="-122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9050415" y="1065049"/>
            <a:ext cx="9748388" cy="8229600"/>
          </a:xfrm>
          <a:custGeom>
            <a:avLst/>
            <a:gdLst/>
            <a:ahLst/>
            <a:cxnLst/>
            <a:rect r="r" b="b" t="t" l="l"/>
            <a:pathLst>
              <a:path h="8229600" w="9748388">
                <a:moveTo>
                  <a:pt x="0" y="0"/>
                </a:moveTo>
                <a:lnTo>
                  <a:pt x="9748388" y="0"/>
                </a:lnTo>
                <a:lnTo>
                  <a:pt x="9748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7000"/>
            </a:blip>
            <a:stretch>
              <a:fillRect l="0" t="-4395" r="-1024" b="-4395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525" y="9439"/>
            <a:ext cx="18288000" cy="10287000"/>
            <a:chOff x="0" y="0"/>
            <a:chExt cx="481659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711428" y="9677552"/>
            <a:ext cx="486514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spc="4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_RemindMeBox_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063" y="3362325"/>
            <a:ext cx="9314219" cy="386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0"/>
              </a:lnSpc>
            </a:pPr>
            <a:r>
              <a:rPr lang="en-US" sz="15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A8BEFF">
                        <a:alpha val="100000"/>
                      </a:srgbClr>
                    </a:gs>
                    <a:gs pos="100000">
                      <a:srgbClr val="FD9F9F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THANK YOU 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DAG7ddu938k</dc:identifier>
  <dcterms:modified xsi:type="dcterms:W3CDTF">2011-08-01T06:04:30Z</dcterms:modified>
  <cp:revision>1</cp:revision>
  <dc:title>RemindMeBox</dc:title>
</cp:coreProperties>
</file>